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1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D1305-8861-BE48-DE13-E90C42CC1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A5D2B-A44B-F2AA-6736-ADCB825F7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CCB60-8842-24B3-C103-3C4AF13C7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A9BCB-C62F-1D29-81CF-687C85F4921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7433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voc-analyzer8220.streamlit.app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127.0.0.1:8501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AF96C-A51C-F210-EEA4-7AA44DC20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9BBDFD2-71CD-3671-3667-134289D4BD79}"/>
              </a:ext>
            </a:extLst>
          </p:cNvPr>
          <p:cNvSpPr>
            <a:spLocks noGrp="1"/>
          </p:cNvSpPr>
          <p:nvPr/>
        </p:nvSpPr>
        <p:spPr>
          <a:xfrm>
            <a:off x="144379" y="20154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8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lang="ko-KR" altLang="en-US" sz="2800" b="1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문제 정의</a:t>
            </a:r>
            <a:endParaRPr sz="2800" b="1" dirty="0">
              <a:solidFill>
                <a:srgbClr val="0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27625-4685-8753-6EE5-80D3487D4DF4}"/>
              </a:ext>
            </a:extLst>
          </p:cNvPr>
          <p:cNvSpPr txBox="1"/>
          <p:nvPr/>
        </p:nvSpPr>
        <p:spPr>
          <a:xfrm>
            <a:off x="609600" y="1087460"/>
            <a:ext cx="1050757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정량 데이터만으로는 </a:t>
            </a:r>
            <a:r>
              <a:rPr lang="en-US" altLang="ko-KR" b="1" dirty="0"/>
              <a:t>“</a:t>
            </a:r>
            <a:r>
              <a:rPr lang="ko-KR" altLang="en-US" b="1" dirty="0"/>
              <a:t>왜</a:t>
            </a:r>
            <a:r>
              <a:rPr lang="en-US" altLang="ko-KR" b="1" dirty="0"/>
              <a:t>”</a:t>
            </a:r>
            <a:r>
              <a:rPr lang="ko-KR" altLang="en-US" b="1" dirty="0"/>
              <a:t>를 알기 어려움</a:t>
            </a:r>
            <a:br>
              <a:rPr lang="en-US" altLang="ko-KR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만족도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별점</a:t>
            </a:r>
            <a:r>
              <a:rPr lang="en-US" altLang="ko-KR" sz="1600" dirty="0"/>
              <a:t>, </a:t>
            </a:r>
            <a:r>
              <a:rPr lang="ko-KR" altLang="en-US" sz="1600" dirty="0"/>
              <a:t>빈도 등 정량 데이터로 현상을 확인한 후에는 왜 그런 결과가 나왔는지 이해하기 위해</a:t>
            </a:r>
            <a:br>
              <a:rPr lang="en-US" altLang="ko-KR" sz="1600" dirty="0"/>
            </a:br>
            <a:r>
              <a:rPr lang="en-US" altLang="ko-KR" sz="1600" dirty="0"/>
              <a:t>VOC </a:t>
            </a:r>
            <a:r>
              <a:rPr lang="ko-KR" altLang="en-US" sz="1600" dirty="0"/>
              <a:t>등 정성 데이터를 확인해야 함</a:t>
            </a: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b="1" dirty="0"/>
              <a:t>VOC</a:t>
            </a:r>
            <a:r>
              <a:rPr lang="ko-KR" altLang="en-US" b="1" dirty="0"/>
              <a:t>는 그대로 보기에는 전체 경향을 파악하기 어려움 </a:t>
            </a:r>
            <a:r>
              <a:rPr lang="en-US" altLang="ko-KR" b="1" dirty="0"/>
              <a:t>(</a:t>
            </a:r>
            <a:r>
              <a:rPr lang="ko-KR" altLang="en-US" b="1" dirty="0"/>
              <a:t>주관이 들어갈 수밖에 없음</a:t>
            </a:r>
            <a:r>
              <a:rPr lang="en-US" altLang="ko-KR" b="1" dirty="0"/>
              <a:t>)</a:t>
            </a:r>
            <a:br>
              <a:rPr lang="en-US" altLang="ko-KR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어떤 의견이 많이 나왔는지</a:t>
            </a:r>
            <a:r>
              <a:rPr lang="en-US" altLang="ko-KR" sz="1600" dirty="0"/>
              <a:t>? </a:t>
            </a:r>
            <a:r>
              <a:rPr lang="ko-KR" altLang="en-US" sz="1600" dirty="0"/>
              <a:t>어떤 이슈가 중요한지</a:t>
            </a:r>
            <a:r>
              <a:rPr lang="en-US" altLang="ko-KR" sz="1600" dirty="0"/>
              <a:t>? </a:t>
            </a:r>
            <a:r>
              <a:rPr lang="ko-KR" altLang="en-US" sz="1600" dirty="0"/>
              <a:t>정량적으로 알기 어려움</a:t>
            </a:r>
            <a:br>
              <a:rPr lang="en-US" altLang="ko-KR" sz="1600" dirty="0"/>
            </a:br>
            <a:r>
              <a:rPr lang="en-US" altLang="ko-KR" sz="1600" dirty="0"/>
              <a:t>(</a:t>
            </a:r>
            <a:r>
              <a:rPr lang="ko-KR" altLang="en-US" sz="1600" dirty="0"/>
              <a:t>단순 단어 빈도 분석은 가능하나 무엇에 대해 어떤 의견을 말했는지 맥락을 알기 어려움</a:t>
            </a:r>
            <a:r>
              <a:rPr lang="en-US" altLang="ko-KR" sz="1600" dirty="0"/>
              <a:t>)</a:t>
            </a:r>
            <a:br>
              <a:rPr lang="en-US" altLang="ko-KR" sz="1600" dirty="0"/>
            </a:b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b="1" dirty="0"/>
              <a:t>그래서 </a:t>
            </a:r>
            <a:r>
              <a:rPr lang="en-US" altLang="ko-KR" b="1" dirty="0"/>
              <a:t>VOC</a:t>
            </a:r>
            <a:r>
              <a:rPr lang="ko-KR" altLang="en-US" b="1" dirty="0"/>
              <a:t>를 분류하는 작업을 하기도 함 </a:t>
            </a:r>
            <a:r>
              <a:rPr lang="en-US" altLang="ko-KR" sz="1600" dirty="0"/>
              <a:t>(</a:t>
            </a:r>
            <a:r>
              <a:rPr lang="ko-KR" altLang="en-US" sz="1600" dirty="0"/>
              <a:t>제 경험에서는 외주를 맡겼습니다</a:t>
            </a:r>
            <a:r>
              <a:rPr lang="en-US" altLang="ko-KR" sz="1600" dirty="0"/>
              <a:t>.)</a:t>
            </a:r>
            <a:br>
              <a:rPr lang="en-US" altLang="ko-KR" dirty="0"/>
            </a:b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b="1" dirty="0"/>
              <a:t>그러나 사람이 직접 분류하는 기존 분류 방식은 다양한 문제가 있음</a:t>
            </a:r>
            <a:br>
              <a:rPr lang="en-US" altLang="ko-KR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분류하는 사람마다 판단 기준이 다르고</a:t>
            </a:r>
            <a:r>
              <a:rPr lang="en-US" altLang="ko-KR" sz="1600" dirty="0"/>
              <a:t>, </a:t>
            </a:r>
            <a:r>
              <a:rPr lang="ko-KR" altLang="en-US" sz="1600" dirty="0"/>
              <a:t>심지어 시점</a:t>
            </a:r>
            <a:r>
              <a:rPr lang="en-US" altLang="ko-KR" sz="1600" dirty="0"/>
              <a:t>/</a:t>
            </a:r>
            <a:r>
              <a:rPr lang="ko-KR" altLang="en-US" sz="1600" dirty="0"/>
              <a:t>상황에 따라 기준이 달라질 수 있으며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기초적인 도메인 지식 파악부터 해야 하는 경우도 있고</a:t>
            </a:r>
            <a:r>
              <a:rPr lang="en-US" altLang="ko-KR" sz="1600" dirty="0"/>
              <a:t>,</a:t>
            </a:r>
            <a:r>
              <a:rPr lang="ko-KR" altLang="en-US" sz="1600" dirty="0"/>
              <a:t> 휴먼 에러</a:t>
            </a:r>
            <a:r>
              <a:rPr lang="en-US" altLang="ko-KR" sz="1600" dirty="0"/>
              <a:t>(</a:t>
            </a:r>
            <a:r>
              <a:rPr lang="ko-KR" altLang="en-US" sz="1600" dirty="0"/>
              <a:t>누락</a:t>
            </a:r>
            <a:r>
              <a:rPr lang="en-US" altLang="ko-KR" sz="1600" dirty="0"/>
              <a:t>/</a:t>
            </a:r>
            <a:r>
              <a:rPr lang="ko-KR" altLang="en-US" sz="1600" dirty="0" err="1"/>
              <a:t>오분류</a:t>
            </a:r>
            <a:r>
              <a:rPr lang="en-US" altLang="ko-KR" sz="1600" dirty="0"/>
              <a:t>)</a:t>
            </a:r>
            <a:r>
              <a:rPr lang="ko-KR" altLang="en-US" sz="1600" dirty="0"/>
              <a:t>도 존재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무엇보다도 기본적으로 사람이 하는 것이다 보니 시간</a:t>
            </a:r>
            <a:r>
              <a:rPr lang="en-US" altLang="ko-KR" sz="1600" dirty="0"/>
              <a:t>/</a:t>
            </a:r>
            <a:r>
              <a:rPr lang="ko-KR" altLang="en-US" sz="1600" dirty="0"/>
              <a:t>비용이 많이 듦</a:t>
            </a:r>
            <a:br>
              <a:rPr lang="en-US" altLang="ko-KR" sz="1600" dirty="0"/>
            </a:b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b="1" dirty="0"/>
              <a:t>또한</a:t>
            </a:r>
            <a:r>
              <a:rPr lang="en-US" altLang="ko-KR" b="1" dirty="0"/>
              <a:t>, </a:t>
            </a:r>
            <a:r>
              <a:rPr lang="ko-KR" altLang="en-US" b="1" dirty="0"/>
              <a:t>처음 분류 기준 자체를 세우는 것도 어려운 작업임</a:t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>
                <a:sym typeface="Wingdings" panose="05000000000000000000" pitchFamily="2" charset="2"/>
              </a:rPr>
              <a:t> AI</a:t>
            </a:r>
            <a:r>
              <a:rPr lang="ko-KR" altLang="en-US" b="1" dirty="0">
                <a:sym typeface="Wingdings" panose="05000000000000000000" pitchFamily="2" charset="2"/>
              </a:rPr>
              <a:t>가 </a:t>
            </a:r>
            <a:r>
              <a:rPr lang="en-US" altLang="ko-KR" b="1" dirty="0">
                <a:sym typeface="Wingdings" panose="05000000000000000000" pitchFamily="2" charset="2"/>
              </a:rPr>
              <a:t>VOC</a:t>
            </a:r>
            <a:r>
              <a:rPr lang="ko-KR" altLang="en-US" b="1" dirty="0">
                <a:sym typeface="Wingdings" panose="05000000000000000000" pitchFamily="2" charset="2"/>
              </a:rPr>
              <a:t>를 읽고 분류 기준을 생성해서 분류하고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ym typeface="Wingdings" panose="05000000000000000000" pitchFamily="2" charset="2"/>
              </a:rPr>
              <a:t>통계내서 시각화까지 해주면 얼마나 좋을까</a:t>
            </a:r>
            <a:r>
              <a:rPr lang="en-US" altLang="ko-KR" b="1" dirty="0">
                <a:sym typeface="Wingdings" panose="05000000000000000000" pitchFamily="2" charset="2"/>
              </a:rPr>
              <a:t>??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894398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7A1B34-E994-5093-CF01-4F7D272DF714}"/>
              </a:ext>
            </a:extLst>
          </p:cNvPr>
          <p:cNvSpPr>
            <a:spLocks noGrp="1"/>
          </p:cNvSpPr>
          <p:nvPr/>
        </p:nvSpPr>
        <p:spPr>
          <a:xfrm>
            <a:off x="144379" y="20154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800" b="1" dirty="0">
                <a:solidFill>
                  <a:srgbClr val="000000"/>
                </a:solidFill>
                <a:latin typeface="Malgun Gothic"/>
                <a:ea typeface="Malgun Gothic"/>
              </a:rPr>
              <a:t>2. </a:t>
            </a:r>
            <a:r>
              <a:rPr lang="ko-KR" altLang="en-US" sz="2800" b="1" dirty="0">
                <a:solidFill>
                  <a:srgbClr val="000000"/>
                </a:solidFill>
                <a:latin typeface="Malgun Gothic"/>
                <a:ea typeface="Malgun Gothic"/>
              </a:rPr>
              <a:t>활용 가능 </a:t>
            </a:r>
            <a:r>
              <a:rPr lang="en-US" altLang="ko-KR" sz="2800" b="1" dirty="0">
                <a:solidFill>
                  <a:srgbClr val="000000"/>
                </a:solidFill>
                <a:latin typeface="Malgun Gothic"/>
                <a:ea typeface="Malgun Gothic"/>
              </a:rPr>
              <a:t>Scene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248F05-42A7-E783-57DF-BCE5C462292B}"/>
              </a:ext>
            </a:extLst>
          </p:cNvPr>
          <p:cNvSpPr txBox="1"/>
          <p:nvPr/>
        </p:nvSpPr>
        <p:spPr>
          <a:xfrm>
            <a:off x="609600" y="1443841"/>
            <a:ext cx="1050757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상품기획자가 고객 리뷰를 분석해 제품의 주요 불만과 빠르게 개선이 필요한 내용을 파악할 때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서비스 운영 담당자가 정량 지표에서 이상을 발견하고 원인과 구체적인 맥락을 파악할 때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FontTx/>
              <a:buAutoNum type="arabicPeriod"/>
            </a:pPr>
            <a:r>
              <a:rPr lang="en-US" altLang="ko-KR" b="1" dirty="0"/>
              <a:t>CX/</a:t>
            </a:r>
            <a:r>
              <a:rPr lang="ko-KR" altLang="en-US" b="1" dirty="0"/>
              <a:t>고객센터 담당자가 상담 </a:t>
            </a:r>
            <a:r>
              <a:rPr lang="en-US" altLang="ko-KR" b="1" dirty="0"/>
              <a:t>VOC</a:t>
            </a:r>
            <a:r>
              <a:rPr lang="ko-KR" altLang="en-US" b="1" dirty="0"/>
              <a:t>에서 반복 문의와 주요 불편 이슈를 찾을 때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리서치 연구원이 설문 오픈문항을 분류해서 데이터를 살펴봐야 할 때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r>
              <a:rPr lang="ko-KR" altLang="en-US" b="1" dirty="0"/>
              <a:t>등 정량 지표만으로 파악이 어려워서 정성 데이터를 구조화해서 보고 싶을 때</a:t>
            </a:r>
            <a:r>
              <a:rPr lang="en-US" altLang="ko-KR" b="1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59012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hlinkClick r:id="rId3"/>
            <a:extLst>
              <a:ext uri="{FF2B5EF4-FFF2-40B4-BE49-F238E27FC236}">
                <a16:creationId xmlns:a16="http://schemas.microsoft.com/office/drawing/2014/main" id="{58FCC9E0-85C0-4777-90AE-5E395F537C27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85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hlinkClick r:id="rId3"/>
              </a:rPr>
              <a:t>https://voc-analyzer8220.streamlit.app/</a:t>
            </a:r>
            <a:endParaRPr lang="en-US" sz="2850" dirty="0">
              <a:solidFill>
                <a:srgbClr val="000000"/>
              </a:solidFill>
              <a:latin typeface="Malgun Gothic"/>
              <a:ea typeface="Malgun Gothic"/>
              <a:cs typeface="Malgun Gothic"/>
              <a:hlinkClick r:id="rId4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CA8665-2AAB-5F51-0946-CCC1705EDE16}"/>
              </a:ext>
            </a:extLst>
          </p:cNvPr>
          <p:cNvSpPr>
            <a:spLocks noGrp="1"/>
          </p:cNvSpPr>
          <p:nvPr/>
        </p:nvSpPr>
        <p:spPr>
          <a:xfrm>
            <a:off x="144379" y="20154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800" b="1" dirty="0">
                <a:solidFill>
                  <a:srgbClr val="000000"/>
                </a:solidFill>
                <a:latin typeface="Malgun Gothic"/>
                <a:ea typeface="Malgun Gothic"/>
              </a:rPr>
              <a:t>3. VOC Analyzer </a:t>
            </a:r>
            <a:r>
              <a:rPr lang="ko-KR" altLang="en-US" sz="2800" b="1" dirty="0">
                <a:solidFill>
                  <a:srgbClr val="000000"/>
                </a:solidFill>
                <a:latin typeface="Malgun Gothic"/>
                <a:ea typeface="Malgun Gothic"/>
              </a:rPr>
              <a:t>앱</a:t>
            </a:r>
            <a:endParaRPr lang="en-US" altLang="ko-KR" sz="2800" b="1" dirty="0">
              <a:solidFill>
                <a:srgbClr val="000000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5554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60A486D-4D05-2FBC-DE55-B3864B761FC2}"/>
              </a:ext>
            </a:extLst>
          </p:cNvPr>
          <p:cNvSpPr>
            <a:spLocks noGrp="1"/>
          </p:cNvSpPr>
          <p:nvPr/>
        </p:nvSpPr>
        <p:spPr>
          <a:xfrm>
            <a:off x="144379" y="20154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800" b="1" dirty="0">
                <a:solidFill>
                  <a:srgbClr val="000000"/>
                </a:solidFill>
                <a:latin typeface="Malgun Gothic"/>
                <a:ea typeface="Malgun Gothic"/>
              </a:rPr>
              <a:t>4. </a:t>
            </a:r>
            <a:r>
              <a:rPr lang="ko-KR" altLang="en-US" sz="2800" b="1" dirty="0">
                <a:solidFill>
                  <a:srgbClr val="000000"/>
                </a:solidFill>
                <a:latin typeface="Malgun Gothic"/>
                <a:ea typeface="Malgun Gothic"/>
              </a:rPr>
              <a:t>한계</a:t>
            </a:r>
            <a:r>
              <a:rPr lang="en-US" altLang="ko-KR" sz="2800" b="1" dirty="0">
                <a:solidFill>
                  <a:srgbClr val="000000"/>
                </a:solidFill>
                <a:latin typeface="Malgun Gothic"/>
                <a:ea typeface="Malgun Gothic"/>
              </a:rPr>
              <a:t>/</a:t>
            </a:r>
            <a:r>
              <a:rPr lang="ko-KR" altLang="en-US" sz="2800" b="1" dirty="0">
                <a:solidFill>
                  <a:srgbClr val="000000"/>
                </a:solidFill>
                <a:latin typeface="Malgun Gothic"/>
                <a:ea typeface="Malgun Gothic"/>
              </a:rPr>
              <a:t>개선점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568D58-2EA8-AD32-A7C1-7D4EF0FBEA86}"/>
              </a:ext>
            </a:extLst>
          </p:cNvPr>
          <p:cNvSpPr txBox="1"/>
          <p:nvPr/>
        </p:nvSpPr>
        <p:spPr>
          <a:xfrm>
            <a:off x="609600" y="1797784"/>
            <a:ext cx="10972800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/>
              <a:t>URL </a:t>
            </a:r>
            <a:r>
              <a:rPr lang="ko-KR" altLang="en-US" b="1" dirty="0"/>
              <a:t>기반 </a:t>
            </a:r>
            <a:r>
              <a:rPr lang="en-US" altLang="ko-KR" b="1" dirty="0"/>
              <a:t>VOC</a:t>
            </a:r>
            <a:r>
              <a:rPr lang="ko-KR" altLang="en-US" b="1" dirty="0"/>
              <a:t> 수집</a:t>
            </a:r>
            <a:r>
              <a:rPr lang="en-US" altLang="ko-KR" b="1" dirty="0"/>
              <a:t>/</a:t>
            </a:r>
            <a:r>
              <a:rPr lang="ko-KR" altLang="en-US" b="1" dirty="0"/>
              <a:t>분류표 생성</a:t>
            </a:r>
            <a:r>
              <a:rPr lang="en-US" altLang="ko-KR" b="1" dirty="0"/>
              <a:t>/</a:t>
            </a:r>
            <a:r>
              <a:rPr lang="ko-KR" altLang="en-US" b="1" dirty="0"/>
              <a:t>시각화</a:t>
            </a:r>
            <a:br>
              <a:rPr lang="en-US" altLang="ko-KR" b="1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현재는 </a:t>
            </a:r>
            <a:r>
              <a:rPr lang="en-US" altLang="ko-KR" sz="1600" dirty="0"/>
              <a:t>VOC</a:t>
            </a:r>
            <a:r>
              <a:rPr lang="ko-KR" altLang="en-US" sz="1600" dirty="0"/>
              <a:t>를 직접 </a:t>
            </a:r>
            <a:r>
              <a:rPr lang="ko-KR" altLang="en-US" sz="1600" dirty="0" err="1"/>
              <a:t>붙여넣거나</a:t>
            </a:r>
            <a:r>
              <a:rPr lang="ko-KR" altLang="en-US" sz="1600" dirty="0"/>
              <a:t> 파일을 업로드해야 해서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데이터를 수집하고 </a:t>
            </a:r>
            <a:r>
              <a:rPr lang="en-US" altLang="ko-KR" sz="1600" dirty="0"/>
              <a:t>1</a:t>
            </a:r>
            <a:r>
              <a:rPr lang="ko-KR" altLang="en-US" sz="1600" dirty="0"/>
              <a:t>차적으로 가공하는 작업이 필요함</a:t>
            </a:r>
            <a:br>
              <a:rPr lang="en-US" altLang="ko-KR" sz="1600" dirty="0"/>
            </a:br>
            <a:r>
              <a:rPr lang="ko-KR" altLang="en-US" sz="1600" dirty="0"/>
              <a:t>추후에는 </a:t>
            </a:r>
            <a:r>
              <a:rPr lang="en-US" altLang="ko-KR" sz="1600" dirty="0"/>
              <a:t>URL</a:t>
            </a:r>
            <a:r>
              <a:rPr lang="ko-KR" altLang="en-US" sz="1600" dirty="0"/>
              <a:t>을 입력하면 </a:t>
            </a:r>
            <a:r>
              <a:rPr lang="en-US" altLang="ko-KR" sz="1600" dirty="0"/>
              <a:t>VOC</a:t>
            </a:r>
            <a:r>
              <a:rPr lang="ko-KR" altLang="en-US" sz="1600" dirty="0"/>
              <a:t>를 수집해주고 분류까지 되면 좋을 것 같음</a:t>
            </a: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보다 성능이 좋은 모델을 사용하여 분류 품질 개선</a:t>
            </a:r>
            <a:br>
              <a:rPr lang="en-US" altLang="ko-KR" b="1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아직 원하는 기능을 다 넣지 못해서 </a:t>
            </a:r>
            <a:r>
              <a:rPr lang="en-US" altLang="ko-KR" sz="1600" dirty="0"/>
              <a:t>Gemini 3.5 Flash Lite</a:t>
            </a:r>
            <a:r>
              <a:rPr lang="ko-KR" altLang="en-US" sz="1600" dirty="0"/>
              <a:t>를 사용하고 있는데</a:t>
            </a:r>
            <a:r>
              <a:rPr lang="en-US" altLang="ko-KR" sz="1600" dirty="0"/>
              <a:t>, </a:t>
            </a:r>
            <a:r>
              <a:rPr lang="ko-KR" altLang="en-US" sz="1600" dirty="0"/>
              <a:t>더 똑똑한 </a:t>
            </a:r>
            <a:r>
              <a:rPr lang="en-US" altLang="ko-KR" sz="1600" dirty="0"/>
              <a:t>GPT</a:t>
            </a:r>
            <a:r>
              <a:rPr lang="ko-KR" altLang="en-US" sz="1600" dirty="0"/>
              <a:t>를 쓰면 더 분류를 잘 하지 않을까 기대가 됨</a:t>
            </a:r>
            <a:br>
              <a:rPr lang="en-US" altLang="ko-KR" b="1" dirty="0"/>
            </a:b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실제 현업에서도 유용할지</a:t>
            </a:r>
            <a:r>
              <a:rPr lang="en-US" altLang="ko-KR" b="1" dirty="0"/>
              <a:t>?</a:t>
            </a:r>
            <a:br>
              <a:rPr lang="en-US" altLang="ko-KR" b="1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현재는 과거 경력 바탕으로 기능을 설계한 상태로 다른 직무에서도 적합할지는 모르겠음</a:t>
            </a:r>
            <a:r>
              <a:rPr lang="en-US" altLang="ko-KR" sz="1600" dirty="0"/>
              <a:t>..!</a:t>
            </a:r>
          </a:p>
        </p:txBody>
      </p:sp>
    </p:spTree>
    <p:extLst>
      <p:ext uri="{BB962C8B-B14F-4D97-AF65-F5344CB8AC3E}">
        <p14:creationId xmlns:p14="http://schemas.microsoft.com/office/powerpoint/2010/main" val="8480277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364</Words>
  <Application>Microsoft Office PowerPoint</Application>
  <DocSecurity>0</DocSecurity>
  <PresentationFormat>와이드스크린</PresentationFormat>
  <Paragraphs>33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Malgun Gothic</vt:lpstr>
      <vt:lpstr>Calibri</vt:lpstr>
      <vt:lpstr>Wingdings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민선 김</cp:lastModifiedBy>
  <cp:revision>4</cp:revision>
  <dcterms:created xsi:type="dcterms:W3CDTF">2026-10-07T07:46:51Z</dcterms:created>
  <dcterms:modified xsi:type="dcterms:W3CDTF">2026-10-07T13:43:11Z</dcterms:modified>
</cp:coreProperties>
</file>