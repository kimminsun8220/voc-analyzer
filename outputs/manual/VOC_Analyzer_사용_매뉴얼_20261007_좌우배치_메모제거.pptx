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ccb637c4491444f" /><Relationship Type="http://schemas.openxmlformats.org/officeDocument/2006/relationships/extended-properties" Target="/docProps/app.xml" Id="R07ce7ddbc57e4462" /><Relationship Type="http://schemas.openxmlformats.org/officeDocument/2006/relationships/officeDocument" Target="/ppt/presentation.xml" Id="R6b36ffa5e3ff48e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03d8d18138e4f9a"/>
  </p:sldMasterIdLst>
  <p:notesMasterIdLst>
    <p:notesMasterId xmlns:r="http://schemas.openxmlformats.org/officeDocument/2006/relationships" r:id="R384b65c19fc443ae"/>
  </p:notesMasterIdLst>
  <p:sldIdLst>
    <p:sldId xmlns:r="http://schemas.openxmlformats.org/officeDocument/2006/relationships" id="256" r:id="Rb4c36a43972c48b3"/>
    <p:sldId xmlns:r="http://schemas.openxmlformats.org/officeDocument/2006/relationships" id="257" r:id="R1d83ea941b514896"/>
    <p:sldId xmlns:r="http://schemas.openxmlformats.org/officeDocument/2006/relationships" id="258" r:id="Rf2d535855fa74dd6"/>
    <p:sldId xmlns:r="http://schemas.openxmlformats.org/officeDocument/2006/relationships" id="259" r:id="R789d96ac0f2c40f1"/>
    <p:sldId xmlns:r="http://schemas.openxmlformats.org/officeDocument/2006/relationships" id="260" r:id="R59b00348c4054c12"/>
    <p:sldId xmlns:r="http://schemas.openxmlformats.org/officeDocument/2006/relationships" id="261" r:id="Re814684092bf46eb"/>
    <p:sldId xmlns:r="http://schemas.openxmlformats.org/officeDocument/2006/relationships" id="262" r:id="R9a64643ba3224411"/>
    <p:sldId xmlns:r="http://schemas.openxmlformats.org/officeDocument/2006/relationships" id="263" r:id="R579501c891c64bd2"/>
    <p:sldId xmlns:r="http://schemas.openxmlformats.org/officeDocument/2006/relationships" id="264" r:id="Ra55d838b2f584b92"/>
    <p:sldId xmlns:r="http://schemas.openxmlformats.org/officeDocument/2006/relationships" id="265" r:id="Re71513324f8c445c"/>
    <p:sldId xmlns:r="http://schemas.openxmlformats.org/officeDocument/2006/relationships" id="266" r:id="Rfe55152e6a264779"/>
    <p:sldId xmlns:r="http://schemas.openxmlformats.org/officeDocument/2006/relationships" id="267" r:id="Rd2a306cc0b1b4e2c"/>
    <p:sldId xmlns:r="http://schemas.openxmlformats.org/officeDocument/2006/relationships" id="268" r:id="R141e5ef679b54471"/>
    <p:sldId xmlns:r="http://schemas.openxmlformats.org/officeDocument/2006/relationships" id="269" r:id="R26af9d67f47743e7"/>
  </p:sldIdLst>
  <p:sldSz cx="9906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c37fd1317ef40c1" /><Relationship Type="http://schemas.openxmlformats.org/officeDocument/2006/relationships/slideMaster" Target="/ppt/slideMasters/slideMaster1.xml" Id="Rd03d8d18138e4f9a" /><Relationship Type="http://schemas.openxmlformats.org/officeDocument/2006/relationships/notesMaster" Target="/ppt/notesMasters/notesMaster1.xml" Id="R384b65c19fc443ae" /><Relationship Type="http://schemas.openxmlformats.org/officeDocument/2006/relationships/presProps" Target="/ppt/presProps.xml" Id="R76444fe309c842c6" /><Relationship Type="http://schemas.openxmlformats.org/officeDocument/2006/relationships/tableStyles" Target="/ppt/tableStyles.xml" Id="R3d2ee3b6e99b4b76" /><Relationship Type="http://schemas.openxmlformats.org/officeDocument/2006/relationships/slide" Target="/ppt/slides/slide1.xml" Id="Rb4c36a43972c48b3" /><Relationship Type="http://schemas.openxmlformats.org/officeDocument/2006/relationships/slide" Target="/ppt/slides/slide2.xml" Id="R1d83ea941b514896" /><Relationship Type="http://schemas.openxmlformats.org/officeDocument/2006/relationships/slide" Target="/ppt/slides/slide3.xml" Id="Rf2d535855fa74dd6" /><Relationship Type="http://schemas.openxmlformats.org/officeDocument/2006/relationships/slide" Target="/ppt/slides/slide4.xml" Id="R789d96ac0f2c40f1" /><Relationship Type="http://schemas.openxmlformats.org/officeDocument/2006/relationships/slide" Target="/ppt/slides/slide5.xml" Id="R59b00348c4054c12" /><Relationship Type="http://schemas.openxmlformats.org/officeDocument/2006/relationships/slide" Target="/ppt/slides/slide6.xml" Id="Re814684092bf46eb" /><Relationship Type="http://schemas.openxmlformats.org/officeDocument/2006/relationships/slide" Target="/ppt/slides/slide7.xml" Id="R9a64643ba3224411" /><Relationship Type="http://schemas.openxmlformats.org/officeDocument/2006/relationships/slide" Target="/ppt/slides/slide8.xml" Id="R579501c891c64bd2" /><Relationship Type="http://schemas.openxmlformats.org/officeDocument/2006/relationships/slide" Target="/ppt/slides/slide9.xml" Id="Ra55d838b2f584b92" /><Relationship Type="http://schemas.openxmlformats.org/officeDocument/2006/relationships/slide" Target="/ppt/slides/slide10.xml" Id="Re71513324f8c445c" /><Relationship Type="http://schemas.openxmlformats.org/officeDocument/2006/relationships/slide" Target="/ppt/slides/slide11.xml" Id="Rfe55152e6a264779" /><Relationship Type="http://schemas.openxmlformats.org/officeDocument/2006/relationships/slide" Target="/ppt/slides/slide12.xml" Id="Rd2a306cc0b1b4e2c" /><Relationship Type="http://schemas.openxmlformats.org/officeDocument/2006/relationships/slide" Target="/ppt/slides/slide13.xml" Id="R141e5ef679b54471" /><Relationship Type="http://schemas.openxmlformats.org/officeDocument/2006/relationships/slide" Target="/ppt/slides/slide14.xml" Id="R26af9d67f47743e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5e3b9d5678f4c3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cd4963649134263" /><Relationship Type="http://schemas.openxmlformats.org/officeDocument/2006/relationships/notesMaster" Target="/ppt/notesMasters/notesMaster1.xml" Id="Re3c9c09dd6394c7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524a43da3354dfe" /><Relationship Type="http://schemas.openxmlformats.org/officeDocument/2006/relationships/notesMaster" Target="/ppt/notesMasters/notesMaster1.xml" Id="Rb1c660f42937464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0b68f30ecf14e12" /><Relationship Type="http://schemas.openxmlformats.org/officeDocument/2006/relationships/notesMaster" Target="/ppt/notesMasters/notesMaster1.xml" Id="R77d3ff6994d04aa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a9bbcb0dadc4c9c" /><Relationship Type="http://schemas.openxmlformats.org/officeDocument/2006/relationships/notesMaster" Target="/ppt/notesMasters/notesMaster1.xml" Id="Rbd26e797f770428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2115eeb2c2f4e9b" /><Relationship Type="http://schemas.openxmlformats.org/officeDocument/2006/relationships/notesMaster" Target="/ppt/notesMasters/notesMaster1.xml" Id="Rad80151443fe4ea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d4d52d2e8914ce9" /><Relationship Type="http://schemas.openxmlformats.org/officeDocument/2006/relationships/notesMaster" Target="/ppt/notesMasters/notesMaster1.xml" Id="R6555e79e7066475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e992b16b4b0440f" /><Relationship Type="http://schemas.openxmlformats.org/officeDocument/2006/relationships/notesMaster" Target="/ppt/notesMasters/notesMaster1.xml" Id="Rd6ed4658fda84ab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a287509dd1a47aa" /><Relationship Type="http://schemas.openxmlformats.org/officeDocument/2006/relationships/notesMaster" Target="/ppt/notesMasters/notesMaster1.xml" Id="Rbf9c048b395945a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77f6fd69f6d4b11" /><Relationship Type="http://schemas.openxmlformats.org/officeDocument/2006/relationships/notesMaster" Target="/ppt/notesMasters/notesMaster1.xml" Id="Rb38c343e3b984f2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0e1ea6d689e4f92" /><Relationship Type="http://schemas.openxmlformats.org/officeDocument/2006/relationships/notesMaster" Target="/ppt/notesMasters/notesMaster1.xml" Id="R859a49a0920b43e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165f21ae2fb45b7" /><Relationship Type="http://schemas.openxmlformats.org/officeDocument/2006/relationships/notesMaster" Target="/ppt/notesMasters/notesMaster1.xml" Id="Re80e50d6cb7d467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f71a08bea894dde" /><Relationship Type="http://schemas.openxmlformats.org/officeDocument/2006/relationships/notesMaster" Target="/ppt/notesMasters/notesMaster1.xml" Id="Raa6ec5567550402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a91632b9f7c4dd7" /><Relationship Type="http://schemas.openxmlformats.org/officeDocument/2006/relationships/notesMaster" Target="/ppt/notesMasters/notesMaster1.xml" Id="R4980694ff25440a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a7b9631ebfb40d0" /><Relationship Type="http://schemas.openxmlformats.org/officeDocument/2006/relationships/notesMaster" Target="/ppt/notesMasters/notesMaster1.xml" Id="R886cdba6e67f4cf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9f5a404c70410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a21dda576974644" /><Relationship Type="http://schemas.openxmlformats.org/officeDocument/2006/relationships/slideLayout" Target="/ppt/slideLayouts/slideLayout1.xml" Id="R8f5a705379bf4f3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f5a705379bf4f3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e8694cad964725" /><Relationship Type="http://schemas.openxmlformats.org/officeDocument/2006/relationships/image" Target="/ppt/media/image.png" Id="Ra86e7cedb9b740db" /><Relationship Type="http://schemas.openxmlformats.org/officeDocument/2006/relationships/notesSlide" Target="/ppt/notesSlides/notesSlide1.xml" Id="R867cb78521f04d7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ee5b816d7f4054" /><Relationship Type="http://schemas.openxmlformats.org/officeDocument/2006/relationships/image" Target="/ppt/media/image.jpeg" Id="R9805bc8cddc340c9" /><Relationship Type="http://schemas.openxmlformats.org/officeDocument/2006/relationships/notesSlide" Target="/ppt/notesSlides/notesSlide2.xml" Id="R8221d3cb247f405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66b0943aea44cc" /><Relationship Type="http://schemas.openxmlformats.org/officeDocument/2006/relationships/image" Target="/ppt/media/image2.png" Id="Ra98837f03fc24971" /><Relationship Type="http://schemas.openxmlformats.org/officeDocument/2006/relationships/notesSlide" Target="/ppt/notesSlides/notesSlide3.xml" Id="Rd8169c01f659480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c972b5be1c4386" /><Relationship Type="http://schemas.openxmlformats.org/officeDocument/2006/relationships/image" Target="/ppt/media/image3.png" Id="Rde05b0c8fdc84c5a" /><Relationship Type="http://schemas.openxmlformats.org/officeDocument/2006/relationships/notesSlide" Target="/ppt/notesSlides/notesSlide4.xml" Id="R180fee81792a421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184b94e3374873" /><Relationship Type="http://schemas.openxmlformats.org/officeDocument/2006/relationships/image" Target="/ppt/media/image4.png" Id="Ra8c6abed72cb46c9" /><Relationship Type="http://schemas.openxmlformats.org/officeDocument/2006/relationships/notesSlide" Target="/ppt/notesSlides/notesSlide5.xml" Id="Re5b3df7cf7cf423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abf045d1eb45b7" /><Relationship Type="http://schemas.openxmlformats.org/officeDocument/2006/relationships/image" Target="/ppt/media/image5.png" Id="R308cbe69b3374d3f" /><Relationship Type="http://schemas.openxmlformats.org/officeDocument/2006/relationships/notesSlide" Target="/ppt/notesSlides/notesSlide6.xml" Id="R1e5dbb2a4116454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598b97039e480f" /><Relationship Type="http://schemas.openxmlformats.org/officeDocument/2006/relationships/image" Target="/ppt/media/image6.png" Id="R1d85970bbff44c71" /><Relationship Type="http://schemas.openxmlformats.org/officeDocument/2006/relationships/notesSlide" Target="/ppt/notesSlides/notesSlide7.xml" Id="Rdbbb094c79b541c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5a3b097dcd4422" /><Relationship Type="http://schemas.openxmlformats.org/officeDocument/2006/relationships/image" Target="/ppt/media/image7.png" Id="R40c3de0f7c804421" /><Relationship Type="http://schemas.openxmlformats.org/officeDocument/2006/relationships/notesSlide" Target="/ppt/notesSlides/notesSlide8.xml" Id="Ra228884e23004c2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8f35631e23466c" /><Relationship Type="http://schemas.openxmlformats.org/officeDocument/2006/relationships/image" Target="/ppt/media/image8.png" Id="R3ab7a1013eea4b3d" /><Relationship Type="http://schemas.openxmlformats.org/officeDocument/2006/relationships/notesSlide" Target="/ppt/notesSlides/notesSlide9.xml" Id="R963aca21036a407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6439dae2b143f9" /><Relationship Type="http://schemas.openxmlformats.org/officeDocument/2006/relationships/image" Target="/ppt/media/image9.png" Id="Rf2be3ea8b8ca412c" /><Relationship Type="http://schemas.openxmlformats.org/officeDocument/2006/relationships/notesSlide" Target="/ppt/notesSlides/notesSlide10.xml" Id="R9fff1a168e4b4eb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f9a6e98ede4dd9" /><Relationship Type="http://schemas.openxmlformats.org/officeDocument/2006/relationships/image" Target="/ppt/media/image10.png" Id="R873ec871282848e6" /><Relationship Type="http://schemas.openxmlformats.org/officeDocument/2006/relationships/notesSlide" Target="/ppt/notesSlides/notesSlide11.xml" Id="Rcb54590caa3e4c8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ec935226b24184" /><Relationship Type="http://schemas.openxmlformats.org/officeDocument/2006/relationships/image" Target="/ppt/media/image11.png" Id="R3970faf25ed44150" /><Relationship Type="http://schemas.openxmlformats.org/officeDocument/2006/relationships/notesSlide" Target="/ppt/notesSlides/notesSlide12.xml" Id="Rda9fe5834079427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6a3b2a7c5b4385" /><Relationship Type="http://schemas.openxmlformats.org/officeDocument/2006/relationships/image" Target="/ppt/media/image12.png" Id="Rd1cf558bf33d422b" /><Relationship Type="http://schemas.openxmlformats.org/officeDocument/2006/relationships/notesSlide" Target="/ppt/notesSlides/notesSlide13.xml" Id="R83eec7dbbbed445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ae53f1bcb24df1" /><Relationship Type="http://schemas.openxmlformats.org/officeDocument/2006/relationships/image" Target="/ppt/media/image13.png" Id="Re2699fdf59a64495" /><Relationship Type="http://schemas.openxmlformats.org/officeDocument/2006/relationships/notesSlide" Target="/ppt/notesSlides/notesSlide14.xml" Id="Ra3aa28ff68cd4a8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D9EA8C-0FE2-4FAD-B1D8-144A55D21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28F95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2250" b="1">
                <a:solidFill>
                  <a:srgbClr val="128F95"/>
                </a:solidFill>
                <a:latin typeface="NanumBarunGothicOTF"/>
                <a:ea typeface="NanumBarunGothicOTF"/>
                <a:cs typeface="NanumBarunGothicOTF"/>
              </a:rPr>
              <a:t>VOC Analyzer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002C71-B193-421A-BDFE-2E37B6EC2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8858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3600" b="1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앱 사용 매뉴얼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93B9BC-1C3A-4AE8-888E-3707CA1F5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133600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67981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800" b="0">
                <a:solidFill>
                  <a:srgbClr val="667981"/>
                </a:solidFill>
                <a:latin typeface="NanumBarunGothicOTF"/>
                <a:ea typeface="NanumBarunGothicOTF"/>
                <a:cs typeface="NanumBarunGothicOTF"/>
              </a:rPr>
              <a:t>데이터 입력부터 분류 결과 확인까지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6e7cedb9b740db"/>
          <a:stretch xmlns:a="http://schemas.openxmlformats.org/drawingml/2006/main"/>
        </p:blipFill>
        <p:spPr>
          <a:xfrm xmlns:a="http://schemas.openxmlformats.org/drawingml/2006/main">
            <a:off x="473982" y="2952750"/>
            <a:ext cx="8958036" cy="3009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E1B08C-7D3A-4F58-922F-AE5105663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982" y="2952750"/>
            <a:ext cx="8958036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749F95-E6C1-4F28-A106-357D4C402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7697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981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125" b="0">
                <a:solidFill>
                  <a:srgbClr val="667981"/>
                </a:solidFill>
                <a:latin typeface="NanumBarunGothicOTF"/>
                <a:ea typeface="NanumBarunGothicOTF"/>
                <a:cs typeface="NanumBarunGothicOTF"/>
              </a:rPr>
              <a:t>2026.10.07  ·  데스크톱 화면 기준</a:t>
            </a:r>
          </a:p>
        </p:txBody>
      </p:sp>
    </p:spTree>
    <p:extLst>
      <p:ext uri="{BB962C8B-B14F-4D97-AF65-F5344CB8AC3E}">
        <p14:creationId xmlns:p14="http://schemas.microsoft.com/office/powerpoint/2010/main" val="19052672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991C51-114F-4877-A2AA-FC6EDADD7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906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ECFFC5-EDCF-4A07-8E8F-CC8793C90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6192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2175" b="1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1. 입력 페이지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C6F953-F3AF-412E-8560-F79786DBF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57250"/>
            <a:ext cx="922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725" b="1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앱 구성과 이용 순서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A6606E-D6A8-4F3E-9A0A-5225E2040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4367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981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900" b="0">
                <a:solidFill>
                  <a:srgbClr val="667981"/>
                </a:solidFill>
                <a:latin typeface="NanumBarunGothicOTF"/>
                <a:ea typeface="NanumBarunGothicOTF"/>
                <a:cs typeface="NanumBarunGothicOTF"/>
              </a:rPr>
              <a:t>VOC Analyzer  /  사용 매뉴얼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38E3FF-67D0-43DC-A9A7-23108E8C5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54367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981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900" b="0">
                <a:solidFill>
                  <a:srgbClr val="667981"/>
                </a:solidFill>
                <a:latin typeface="NanumBarunGothicOTF"/>
                <a:ea typeface="NanumBarunGothicOTF"/>
                <a:cs typeface="NanumBarunGothicOTF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9FEBA3-E71D-4AE8-9B74-E07BCD699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409700"/>
            <a:ext cx="30480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F9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9F6CF5-A05D-466E-A890-FA0B91497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447800"/>
            <a:ext cx="2819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425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rPr>
              <a:t>01. 데이터 입력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AD3919-6C4F-444D-A9F3-9B9F9300A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771650"/>
            <a:ext cx="3048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8D8623-DE97-4783-A814-3AB7E121D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876425"/>
            <a:ext cx="27813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CSV·XLSX 파일을 올리거나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고객 의견을 붙여넣습니다.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입력 내용을 확인한 뒤 저장합니다.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7FE87C-B707-42DC-87ED-1B89FDAFD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76575"/>
            <a:ext cx="30480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F9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092789-15A8-4966-B07F-F724294FD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14675"/>
            <a:ext cx="2819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425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rPr>
              <a:t>02. 분류 기준표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24CB87-DA0B-4313-8531-5B068DC67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38525"/>
            <a:ext cx="3048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751E26-B362-4130-866B-1E6399AA1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543300"/>
            <a:ext cx="27813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분류 기준을 생성합니다.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대분류·세부분류·기준을 검토한 뒤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저장하고 VOC 분류를 실행합니다.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58B663-0D2C-4B66-98DC-25D2A4526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743450"/>
            <a:ext cx="30480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F9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54C028-5CCA-4435-8F90-FDE0FEFD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781550"/>
            <a:ext cx="2819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425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rPr>
              <a:t>03. 분류 결과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E5E331-F4B9-4222-A43E-B13AD2B83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105400"/>
            <a:ext cx="3048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5726A0-F285-4F08-B198-4D49DFEFA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210175"/>
            <a:ext cx="27813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감성과 분류를 선택해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고객 원문을 확인합니다.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결과를 수정하거나 Excel로 받습니다.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05bc8cddc340c9"/>
          <a:stretch xmlns:a="http://schemas.openxmlformats.org/drawingml/2006/main"/>
        </p:blipFill>
        <p:spPr>
          <a:xfrm xmlns:a="http://schemas.openxmlformats.org/drawingml/2006/main">
            <a:off x="342900" y="1880667"/>
            <a:ext cx="5905500" cy="3953917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D530C0-232B-4E4E-AA3E-4F21C74C2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880667"/>
            <a:ext cx="5905500" cy="39539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8E0B03-52A5-4AD4-AE69-DE98BDBA9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924" y="2434307"/>
            <a:ext cx="885825" cy="207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4A3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B013EF-D1C6-4F3E-A95C-8158A67EC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149" y="2310482"/>
            <a:ext cx="2762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200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rPr>
              <a:t>01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E655D3-073F-49F3-8BAC-241100182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924" y="2646536"/>
            <a:ext cx="885825" cy="207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4A39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864084-9519-4228-BC8C-BE1BEC108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149" y="2522711"/>
            <a:ext cx="2762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200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rPr>
              <a:t>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1BEB60-3CB1-48B8-9235-488CDF14F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924" y="2858765"/>
            <a:ext cx="885825" cy="2168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4A39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EE1276-AACE-4F14-9A82-BB47AD14E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149" y="2734940"/>
            <a:ext cx="2762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200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820894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70AA73-065B-4D13-8B25-B33A27B4B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906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7F86FC-8D83-43BB-8EC3-4FF33F3E6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6192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2175" b="1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1. 입력 페이지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89998C-1E66-44A8-BCFC-0BE295412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57250"/>
            <a:ext cx="922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725" b="1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데이터 입력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4AD2EF-DC2E-416E-97AA-6E5C49514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4367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981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900" b="0">
                <a:solidFill>
                  <a:srgbClr val="667981"/>
                </a:solidFill>
                <a:latin typeface="NanumBarunGothicOTF"/>
                <a:ea typeface="NanumBarunGothicOTF"/>
                <a:cs typeface="NanumBarunGothicOTF"/>
              </a:rPr>
              <a:t>VOC Analyzer  /  사용 매뉴얼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448BFB-48A2-4A40-88D9-677D4968E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54367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981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900" b="0">
                <a:solidFill>
                  <a:srgbClr val="667981"/>
                </a:solidFill>
                <a:latin typeface="NanumBarunGothicOTF"/>
                <a:ea typeface="NanumBarunGothicOTF"/>
                <a:cs typeface="NanumBarunGothicOTF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38744E-79C0-47BC-B6B8-06B77221D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409700"/>
            <a:ext cx="30480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F9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0309BA-2E52-45AF-9B32-2BB133D99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447800"/>
            <a:ext cx="2819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425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rPr>
              <a:t>01. 분석 이름과 자료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6B60F3-7FEC-4D39-8CF6-B2F7886A4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771650"/>
            <a:ext cx="3048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50C736-76CE-44D6-AB4C-6E23698F7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876425"/>
            <a:ext cx="27813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분석 이름을 입력합니다.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파일 업로드 또는 직접 붙여넣기를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선택합니다. 직접 입력할 때는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한 줄에 한 응답을 적습니다.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C0DF63-C50A-4100-94CA-C30BAC926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76575"/>
            <a:ext cx="30480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F9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D038F3-CF0F-4C47-A97F-80B1FEFDC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14675"/>
            <a:ext cx="2819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425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rPr>
              <a:t>02. 파일과 본문 열 선택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6F2B72-EBBB-46A2-B790-7CE069C52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38525"/>
            <a:ext cx="3048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EE35E9-D56B-464F-9C64-66F203BD3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543300"/>
            <a:ext cx="27813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CSV·XLSX 파일을 올립니다.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고객 의견이 들어 있는 본문 열을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선택합니다. XLSX 파일은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분석할 시트도 고릅니다.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411498-78AD-420B-90C6-41B8406AC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743450"/>
            <a:ext cx="30480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F9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4E9B78-FAA6-4308-8BB5-5B8DBE4C7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781550"/>
            <a:ext cx="2819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425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rPr>
              <a:t>03. 분석 배경 (선택)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187278-0520-4D6A-8B5D-2E1819141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105400"/>
            <a:ext cx="3048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974DBD-DD37-443D-A828-93DBB7444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210175"/>
            <a:ext cx="27813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설문 문항·상품 설명·약어 등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자료를 해석하는 데 필요한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공통 배경을 입력합니다.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비워도 진행할 수 있습니다.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8837f03fc24971"/>
          <a:stretch xmlns:a="http://schemas.openxmlformats.org/drawingml/2006/main"/>
        </p:blipFill>
        <p:spPr>
          <a:xfrm xmlns:a="http://schemas.openxmlformats.org/drawingml/2006/main">
            <a:off x="342900" y="2335589"/>
            <a:ext cx="5905500" cy="3044072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0A8A13-5B48-4941-BB38-6DC18432D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335589"/>
            <a:ext cx="5905500" cy="30440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756CED-3B7B-4B0E-8DBF-FE9DBB994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605" y="2913963"/>
            <a:ext cx="3086689" cy="444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4A3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90EC49-33E0-4836-8E40-E25FB74CF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830" y="2790138"/>
            <a:ext cx="2762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200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rPr>
              <a:t>01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F0605D-9552-4AE3-BAD5-5C95A5790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605" y="4009829"/>
            <a:ext cx="5783737" cy="608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4A39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4F71C2-4CF3-415E-90C4-B2C3ECF91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830" y="3886004"/>
            <a:ext cx="2762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200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rPr>
              <a:t>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0D9840-930D-493A-A9FD-209F5DE32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605" y="4764759"/>
            <a:ext cx="803635" cy="334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4A39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09BF82-9DB4-4ACD-9844-E7DC0BA5D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830" y="4640934"/>
            <a:ext cx="2762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200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482500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907C86-877D-4B69-BD5A-A7EDDB782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906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178892-88B7-4AD2-B00E-E07984543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6192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2175" b="1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1. 입력 페이지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2D738F-9C89-4E4D-8D9F-3D69C6173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57250"/>
            <a:ext cx="922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725" b="1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입력 확인과 저장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B12E39-3816-4AD3-AF5D-F0FF23633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4367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981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900" b="0">
                <a:solidFill>
                  <a:srgbClr val="667981"/>
                </a:solidFill>
                <a:latin typeface="NanumBarunGothicOTF"/>
                <a:ea typeface="NanumBarunGothicOTF"/>
                <a:cs typeface="NanumBarunGothicOTF"/>
              </a:rPr>
              <a:t>VOC Analyzer  /  사용 매뉴얼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93856D-97F8-4CEE-9AB0-E9A7300CD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54367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981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900" b="0">
                <a:solidFill>
                  <a:srgbClr val="667981"/>
                </a:solidFill>
                <a:latin typeface="NanumBarunGothicOTF"/>
                <a:ea typeface="NanumBarunGothicOTF"/>
                <a:cs typeface="NanumBarunGothicOTF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7091B9-84A3-488C-971D-2642B35E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409700"/>
            <a:ext cx="30480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F9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E1C75D-90AF-4545-8FE5-BA5FEF645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447800"/>
            <a:ext cx="2819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425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rPr>
              <a:t>01. 미리보기 확인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B145EC-5251-43BB-98B3-3645232E4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771650"/>
            <a:ext cx="3048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4011CD-036D-4EFA-9027-D6B602CFE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876425"/>
            <a:ext cx="27813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미리보기에서 고객 의견이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올바르게 들어 있는지 확인합니다.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직접 입력은 빈 줄을 제외해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응답 수를 계산합니다.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BA0C28-4099-4E89-A21B-B6C3A6005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76575"/>
            <a:ext cx="30480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F9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B8AEE7-22D2-4735-A5BF-7412A689D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14675"/>
            <a:ext cx="2819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425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rPr>
              <a:t>02. 입력 데이터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71C0BB-6874-4A2A-898E-D864ED648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38525"/>
            <a:ext cx="3048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939878-E583-4C13-81B0-ACEBA49B5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543300"/>
            <a:ext cx="27813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「입력 데이터 확인」을 누릅니다.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표 아래 원본 응답과 빈 본문 수를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확인하고, 오류가 있으면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입력 내용을 고칩니다.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109760-E656-4426-A4C0-CB527E22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743450"/>
            <a:ext cx="30480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F9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3C5692-983B-4F5D-9247-5C19DC3C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781550"/>
            <a:ext cx="2819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425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rPr>
              <a:t>03. 저장하고 다음 단계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9B3A96-FE5A-45E8-B81B-B7B7545A0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105400"/>
            <a:ext cx="3048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EE8028-6435-4B80-9245-5A1FA54CA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210175"/>
            <a:ext cx="27813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「입력 저장 → 분류 기준표로」를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눌러 자료를 저장합니다.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저장 후 기준표 화면으로 이동합니다.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05b0c8fdc84c5a"/>
          <a:stretch xmlns:a="http://schemas.openxmlformats.org/drawingml/2006/main"/>
        </p:blipFill>
        <p:spPr>
          <a:xfrm xmlns:a="http://schemas.openxmlformats.org/drawingml/2006/main">
            <a:off x="342900" y="2180341"/>
            <a:ext cx="5905500" cy="3354568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85FB26-6469-4D5C-946D-EF1F7F539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180341"/>
            <a:ext cx="5905500" cy="33545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C7ADF8-0060-41C0-AFF4-BD171D3AD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605" y="2588247"/>
            <a:ext cx="5765473" cy="2167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4A3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382D75-207A-4E6C-97C3-802D931D9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830" y="2464422"/>
            <a:ext cx="2762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200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rPr>
              <a:t>01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77EA90-A5BC-4EDC-8E86-1574E66C1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781" y="5254854"/>
            <a:ext cx="706225" cy="2678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4A39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68B82D-C30A-4807-AD60-2F6FDF4DB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06" y="5131029"/>
            <a:ext cx="2762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200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rPr>
              <a:t>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A60864-0015-428D-9036-37F51C034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593" y="5254854"/>
            <a:ext cx="1053249" cy="2678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4A39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EEFCE6-4D0C-45C8-AB27-A05588B19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818" y="5131029"/>
            <a:ext cx="2762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200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793881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D8623B-097B-4ACC-9881-4477F5762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906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4332AF-FD78-4FB4-8EA2-652A25A18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6192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2175" b="1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2. 분류 기준표 페이지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B82B2B-EACB-47FD-99CE-17B313ADE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57250"/>
            <a:ext cx="922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725" b="1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분류 기준표 생성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7F951E-282C-4352-97B4-E61532BEF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4367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981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900" b="0">
                <a:solidFill>
                  <a:srgbClr val="667981"/>
                </a:solidFill>
                <a:latin typeface="NanumBarunGothicOTF"/>
                <a:ea typeface="NanumBarunGothicOTF"/>
                <a:cs typeface="NanumBarunGothicOTF"/>
              </a:rPr>
              <a:t>VOC Analyzer  /  사용 매뉴얼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EECD51-81E4-4F4B-9F5F-4DEA78AE3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54367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981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900" b="0">
                <a:solidFill>
                  <a:srgbClr val="667981"/>
                </a:solidFill>
                <a:latin typeface="NanumBarunGothicOTF"/>
                <a:ea typeface="NanumBarunGothicOTF"/>
                <a:cs typeface="NanumBarunGothicOTF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5EC775-3AC0-4BD2-AA22-AF546114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409700"/>
            <a:ext cx="30480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F9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C497DA-6A73-4566-A687-1A5DBE96A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447800"/>
            <a:ext cx="2819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425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rPr>
              <a:t>01. 자료와 요청 확인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2E34BD-4C51-4B11-AD04-1401DCC30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771650"/>
            <a:ext cx="3048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75F64C-529B-44B4-B0CB-E0B1C9DB1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876425"/>
            <a:ext cx="27813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자료 설명과 분류 요청에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원하는 분류 방향을 적습니다.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추가 요청이 없으면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비워 두어도 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4A9EAA-FC9B-4933-8793-B147FFDF2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76575"/>
            <a:ext cx="30480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F9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859A29-7307-4360-9106-65DB09EA9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14675"/>
            <a:ext cx="2819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425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rPr>
              <a:t>02. AI 초안 생성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D2C21B-E735-47E9-9829-DD8FFE94D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38525"/>
            <a:ext cx="3048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1C6998-B9AD-4C3C-8923-9E6FF9DCF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543300"/>
            <a:ext cx="27813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AI 생성 버튼을 누릅니다.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완료 후 생성된 표의 이름과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분류 기준을 검토합니다.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왼쪽은 재생성 예시입니다.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B27DC1-71E5-4379-8D33-919E25E0E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743450"/>
            <a:ext cx="30480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F9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AC3445-369B-4B04-9BB2-909EDCCB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781550"/>
            <a:ext cx="2819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425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rPr>
              <a:t>03. 기존 기준표 재생성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1BF17E-C51A-457F-A9DD-75A7A08E2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105400"/>
            <a:ext cx="3048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A5F335-8EDE-4A6B-BA0E-093E552CA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210175"/>
            <a:ext cx="27813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기존 표 아래의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「분류 기준표 새로 만들기」를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펼쳐 새 기준표를 생성합니다.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c6abed72cb46c9"/>
          <a:stretch xmlns:a="http://schemas.openxmlformats.org/drawingml/2006/main"/>
        </p:blipFill>
        <p:spPr>
          <a:xfrm xmlns:a="http://schemas.openxmlformats.org/drawingml/2006/main">
            <a:off x="342900" y="2643040"/>
            <a:ext cx="5905500" cy="242917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3C7C10-A042-4385-A0C2-6DA951B1F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43040"/>
            <a:ext cx="5905500" cy="2429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05692E-A395-482F-B113-1A992617B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781" y="3184885"/>
            <a:ext cx="5753296" cy="2374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4A3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E23A59-BEEF-4E27-8863-8F52C0024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06" y="3061060"/>
            <a:ext cx="2762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200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0EB19A-903F-4842-99BB-25D32147E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68" y="3525821"/>
            <a:ext cx="5540211" cy="7366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4A39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E7DAFB-4765-4A60-96F8-EA40C700D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593" y="3401996"/>
            <a:ext cx="2762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200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rPr>
              <a:t>01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108D1B-0C19-4D2F-998A-1A204CDBA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104" y="4323368"/>
            <a:ext cx="1120219" cy="2678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4A39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A2DAA9-1694-448A-BB4F-D0599C763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329" y="4199543"/>
            <a:ext cx="2762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200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956738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EAF00B-E5EB-43EF-A072-53191BF93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906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4862F8-FCCA-47DC-A221-EA1EA4FC0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6192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2175" b="1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2. 분류 기준표 페이지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597E82-34DA-4986-BF25-978CD0FDA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57250"/>
            <a:ext cx="922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725" b="1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분류 기준표 편집과 필터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35714B-B0E1-402E-9362-E7B9C9837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4367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981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900" b="0">
                <a:solidFill>
                  <a:srgbClr val="667981"/>
                </a:solidFill>
                <a:latin typeface="NanumBarunGothicOTF"/>
                <a:ea typeface="NanumBarunGothicOTF"/>
                <a:cs typeface="NanumBarunGothicOTF"/>
              </a:rPr>
              <a:t>VOC Analyzer  /  사용 매뉴얼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956092-0B6B-40E9-B00E-BAD6F31F6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54367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981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900" b="0">
                <a:solidFill>
                  <a:srgbClr val="667981"/>
                </a:solidFill>
                <a:latin typeface="NanumBarunGothicOTF"/>
                <a:ea typeface="NanumBarunGothicOTF"/>
                <a:cs typeface="NanumBarunGothicOTF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432A40-2470-4B60-B50C-6DC2DC790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409700"/>
            <a:ext cx="30480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F9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957AB6-E87F-40D6-A3C2-EABFB7B64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447800"/>
            <a:ext cx="2819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425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rPr>
              <a:t>01. 셀에서 직접 수정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1BD21F-8B32-4D13-B625-8E7D0F14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771650"/>
            <a:ext cx="3048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FA4FDB-4CE0-420D-A655-7471A0F3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876425"/>
            <a:ext cx="27813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표에서 대분류·세부분류와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분류 기준을 바로 수정합니다.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새 분류는 표 아래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「행 추가」로 넣습니다.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499B95-02F0-446C-9A12-34C29B25C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76575"/>
            <a:ext cx="30480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F9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AFB20D-A844-4026-942F-CBF7CB117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14675"/>
            <a:ext cx="2819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425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rPr>
              <a:t>02. 정렬·필터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30138A-1B2A-4B67-9802-0597DBFBB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38525"/>
            <a:ext cx="3048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8414D2-DDD6-42C7-91FE-09C505786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543300"/>
            <a:ext cx="27813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열 제목의 메뉴를 엽니다.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정렬하거나 값을 고른 뒤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「적용」을 누릅니다.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숨긴 행도 기준표에 유지됩니다.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3E35C8-353B-41D5-B26A-4DB2908C4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743450"/>
            <a:ext cx="30480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F9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D9E651-9FD6-48F2-B410-B17B15AE9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781550"/>
            <a:ext cx="2819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425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rPr>
              <a:t>03. 행 합치기·분리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EBE8E9-DBA2-4844-AC41-58B14E05C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105400"/>
            <a:ext cx="3048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D618A0-90E0-4A91-B8C5-AFECE8B26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210175"/>
            <a:ext cx="27813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행 손잡이를 다른 행으로 끌어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합치거나 행 메뉴에서 분리합니다.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표 아래 「되돌리기」를 누르면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편집을 취소할 수 있습니다.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8cbe69b3374d3f"/>
          <a:stretch xmlns:a="http://schemas.openxmlformats.org/drawingml/2006/main"/>
        </p:blipFill>
        <p:spPr>
          <a:xfrm xmlns:a="http://schemas.openxmlformats.org/drawingml/2006/main">
            <a:off x="342900" y="1878978"/>
            <a:ext cx="5905500" cy="3957294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2D693D-CE94-41D7-BF77-1F28451A7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878978"/>
            <a:ext cx="5905500" cy="39572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1FAB83-AAA3-4309-97C9-D7F802761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4328" y="2372118"/>
            <a:ext cx="2678784" cy="2922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4A3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4ACA14-5FB8-4B29-9913-21D4CD357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553" y="2248293"/>
            <a:ext cx="2762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200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rPr>
              <a:t>01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C302AF-A163-4C03-A49C-BBC02F9CE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9207" y="2323413"/>
            <a:ext cx="1716857" cy="29892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4A39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112E5D-5FD9-4DDB-9F31-DFFDF236C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432" y="2199588"/>
            <a:ext cx="2762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200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rPr>
              <a:t>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67B4F8-4F75-4683-BF26-CCB0897F5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87" y="2372118"/>
            <a:ext cx="188732" cy="2922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4A39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54CC41-1A79-4EEA-8964-D970CCF26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12" y="2248293"/>
            <a:ext cx="2762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200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517695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2470A5-DA6E-488E-A6F3-D0E923CA0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906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E2F5DA-EDE4-4D47-8B29-06F6F42E9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6192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2175" b="1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2. 분류 기준표 페이지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C4824C-6CD5-4ACE-B6F2-AE952CFB9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57250"/>
            <a:ext cx="922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725" b="1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기준표 저장과 VOC 분류 실행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4090F5-1B41-4718-B5D1-4DF654E95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4367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981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900" b="0">
                <a:solidFill>
                  <a:srgbClr val="667981"/>
                </a:solidFill>
                <a:latin typeface="NanumBarunGothicOTF"/>
                <a:ea typeface="NanumBarunGothicOTF"/>
                <a:cs typeface="NanumBarunGothicOTF"/>
              </a:rPr>
              <a:t>VOC Analyzer  /  사용 매뉴얼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6BAA83-1A14-4940-835C-7D1094A92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54367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981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900" b="0">
                <a:solidFill>
                  <a:srgbClr val="667981"/>
                </a:solidFill>
                <a:latin typeface="NanumBarunGothicOTF"/>
                <a:ea typeface="NanumBarunGothicOTF"/>
                <a:cs typeface="NanumBarunGothicOTF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C7A16C-8712-4429-A295-E563F0E70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409700"/>
            <a:ext cx="30480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F9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CDFBFD-2489-4E45-B307-9828D2331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447800"/>
            <a:ext cx="2819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425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rPr>
              <a:t>01. 분류 기준표 저장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2FC14F-77CB-4FCD-A5F0-450C30093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771650"/>
            <a:ext cx="3048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2A5D9B-546D-41E6-A5F9-F3557461F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876425"/>
            <a:ext cx="27813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표의 이름과 분류 기준을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확인한 뒤 수정한 기준표를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저장합니다. 저장한 버전을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분석에 사용합니다.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3167E4-06F4-4965-8ED2-F540E2E12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76575"/>
            <a:ext cx="30480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F9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998B18-5B74-443C-B018-88F2E1153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14675"/>
            <a:ext cx="2819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425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rPr>
              <a:t>02. 전체 VOC 분류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F8C7B4-0D49-41C5-BC3B-1A4F8BDCD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38525"/>
            <a:ext cx="3048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F9C1B8-C818-4376-A9A2-526BBF3BB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543300"/>
            <a:ext cx="27813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「이 기준표로 VOC 분류하기」를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누릅니다. 진행 상태와 처리 건수를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확인하고 완료 후 결과를 봅니다.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B9765C-DCEA-4F30-9056-86E9C6A20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743450"/>
            <a:ext cx="30480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F9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13927D-E22B-4A8E-96FB-48D312F05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781550"/>
            <a:ext cx="2819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425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rPr>
              <a:t>참고 중단·검토 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67B8A4-E2C7-434A-88E6-C37CFE074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105400"/>
            <a:ext cx="3048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FAA90F-135C-4D7A-9ED2-37995704C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210175"/>
            <a:ext cx="27813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실패·미처리는 이어서 실행합니다.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검토가 필요하면 안내를 확인합니다.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진행 중에는 다른 분류를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중복 실행하지 않습니다.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85970bbff44c71"/>
          <a:stretch xmlns:a="http://schemas.openxmlformats.org/drawingml/2006/main"/>
        </p:blipFill>
        <p:spPr>
          <a:xfrm xmlns:a="http://schemas.openxmlformats.org/drawingml/2006/main">
            <a:off x="342900" y="3041814"/>
            <a:ext cx="5905500" cy="1631623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315C16-FCF9-4045-ABF5-DC12F5E9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041814"/>
            <a:ext cx="5905500" cy="16316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3CA5BE-E473-4141-A568-0C9A2FD4C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517" y="4375117"/>
            <a:ext cx="730577" cy="2922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4A3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F6F032-3858-4FED-94F6-604727F65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742" y="4251292"/>
            <a:ext cx="2762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200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rPr>
              <a:t>01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F8F79A-25EA-4455-B13C-FFDCED294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152" y="4375117"/>
            <a:ext cx="1108042" cy="2922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4A39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BD3542-A996-4C2B-996E-5A76D8DC3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377" y="4251292"/>
            <a:ext cx="2762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200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rPr>
              <a:t>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D1F46E-A4FA-48EC-AD26-E6F77FF39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181600"/>
            <a:ext cx="56483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67981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667981"/>
                </a:solidFill>
                <a:latin typeface="NanumBarunGothicOTF"/>
                <a:ea typeface="NanumBarunGothicOTF"/>
                <a:cs typeface="NanumBarunGothicOTF"/>
              </a:rPr>
              <a:t>표의 맨 아래에서 저장과 분류 실행을 이어갑니다.</a:t>
            </a:r>
          </a:p>
        </p:txBody>
      </p:sp>
    </p:spTree>
    <p:extLst>
      <p:ext uri="{BB962C8B-B14F-4D97-AF65-F5344CB8AC3E}">
        <p14:creationId xmlns:p14="http://schemas.microsoft.com/office/powerpoint/2010/main" val="17147819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3E975E-BB6E-4246-8612-AA3FCB3B9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906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C7BA5B-F28B-4400-BFBB-E69BA0FFC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6192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2175" b="1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3. 분류 결과 페이지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715B93-F935-4852-917A-6C95E27F1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57250"/>
            <a:ext cx="922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725" b="1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긍정·부정 언급률과 감성 필터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8789C9-3B1A-4CD5-8CC1-CB436A358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4367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981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900" b="0">
                <a:solidFill>
                  <a:srgbClr val="667981"/>
                </a:solidFill>
                <a:latin typeface="NanumBarunGothicOTF"/>
                <a:ea typeface="NanumBarunGothicOTF"/>
                <a:cs typeface="NanumBarunGothicOTF"/>
              </a:rPr>
              <a:t>VOC Analyzer  /  사용 매뉴얼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F59127-B975-4636-8A17-0D45E07F9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54367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981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900" b="0">
                <a:solidFill>
                  <a:srgbClr val="667981"/>
                </a:solidFill>
                <a:latin typeface="NanumBarunGothicOTF"/>
                <a:ea typeface="NanumBarunGothicOTF"/>
                <a:cs typeface="NanumBarunGothicOTF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01F900-D8CB-4A3B-81EF-9624F3E1C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409700"/>
            <a:ext cx="30480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F9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DF1453-F57D-4483-B38B-59D1A6C17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447800"/>
            <a:ext cx="2819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425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rPr>
              <a:t>01. 언급률 읽기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7C4556-EBD2-4EC7-95E6-B5F02EA51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771650"/>
            <a:ext cx="3048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34ADD1-9BDB-43EB-A273-12B570D7F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876425"/>
            <a:ext cx="27813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전체 응답 중 해당 감성을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포함한 응답의 비율입니다.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예: 긍정 31건 ÷ 전체 50건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= 62.0%.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EEF449-81C0-4277-B598-83F5CEE8A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76575"/>
            <a:ext cx="30480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F9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8D1373-0D8C-44EC-9711-486FEAAE3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14675"/>
            <a:ext cx="2819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425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rPr>
              <a:t>참고 혼합 응답 포함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6812AE-1DBB-46E1-979D-BBFCFC2A0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38525"/>
            <a:ext cx="3048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3779B0-7130-4FEA-AA6B-A5F3A1812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543300"/>
            <a:ext cx="27813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긍정과 부정이 함께 있으면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양쪽에 각각 포함합니다.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두 비율을 더하면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100%를 넘을 수 있습니다.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FCE7F1-D0CC-4451-B2F3-4D335424A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743450"/>
            <a:ext cx="30480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F9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EF3275-2AA2-44BF-B102-C6C9BEAC2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781550"/>
            <a:ext cx="2819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425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rPr>
              <a:t>02. 감성 선택·해제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7AAF4A-4121-478D-9DA5-1BF0FF925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105400"/>
            <a:ext cx="3048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1103A8-CD71-4F31-BE40-105601A12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210175"/>
            <a:ext cx="27813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감성 막대를 누르면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해당 감성으로 분류를 좁힙니다.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같은 막대를 다시 누르거나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조건을 해제하면 전체로 돌아갑니다.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c3de0f7c804421"/>
          <a:stretch xmlns:a="http://schemas.openxmlformats.org/drawingml/2006/main"/>
        </p:blipFill>
        <p:spPr>
          <a:xfrm xmlns:a="http://schemas.openxmlformats.org/drawingml/2006/main">
            <a:off x="342900" y="2122504"/>
            <a:ext cx="5905500" cy="3470242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3230A8-2718-4156-BF41-AC08B3D6C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122504"/>
            <a:ext cx="5905500" cy="34702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19C8C7-8FD3-4323-A442-099A2877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4352" y="2384294"/>
            <a:ext cx="633167" cy="2739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4A3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748CB7-91C0-4CFE-85CE-B158A10B6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9577" y="2260469"/>
            <a:ext cx="2762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200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rPr>
              <a:t>01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8D7B4C-0F35-405E-AD23-B2B21A85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41" y="2670437"/>
            <a:ext cx="5777649" cy="20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4A39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8125FB-47FE-441E-B268-CB7E7ABBE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566" y="2546612"/>
            <a:ext cx="2762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200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rPr>
              <a:t>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8390FD-2177-41CE-96B9-FED0A1CA9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762625"/>
            <a:ext cx="56483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981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200" b="0">
                <a:solidFill>
                  <a:srgbClr val="667981"/>
                </a:solidFill>
                <a:latin typeface="NanumBarunGothicOTF"/>
                <a:ea typeface="NanumBarunGothicOTF"/>
                <a:cs typeface="NanumBarunGothicOTF"/>
              </a:rPr>
              <a:t>분류 차트의 기준 응답 수는 감성 선택에 따라 바뀝니다.</a:t>
            </a:r>
          </a:p>
        </p:txBody>
      </p:sp>
    </p:spTree>
    <p:extLst>
      <p:ext uri="{BB962C8B-B14F-4D97-AF65-F5344CB8AC3E}">
        <p14:creationId xmlns:p14="http://schemas.microsoft.com/office/powerpoint/2010/main" val="385435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32D474-3E93-4F70-AE9E-901E485E8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906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5669B5-2A29-4327-86C5-1CA0BECAF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6192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2175" b="1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3. 분류 결과 페이지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770873-AE91-405F-966C-FBCD2647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57250"/>
            <a:ext cx="922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725" b="1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대분류에서 세부분류·원문으로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1F4736-510D-4C01-B6BC-59BC3BA10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4367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981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900" b="0">
                <a:solidFill>
                  <a:srgbClr val="667981"/>
                </a:solidFill>
                <a:latin typeface="NanumBarunGothicOTF"/>
                <a:ea typeface="NanumBarunGothicOTF"/>
                <a:cs typeface="NanumBarunGothicOTF"/>
              </a:rPr>
              <a:t>VOC Analyzer  /  사용 매뉴얼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FE07E6-DE3B-4073-A12B-4B21E3A75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54367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981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900" b="0">
                <a:solidFill>
                  <a:srgbClr val="667981"/>
                </a:solidFill>
                <a:latin typeface="NanumBarunGothicOTF"/>
                <a:ea typeface="NanumBarunGothicOTF"/>
                <a:cs typeface="NanumBarunGothicOTF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B2311B-D7DD-47C0-B1B7-CB14798C6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409700"/>
            <a:ext cx="30480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F9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5F369D-A79E-4AEC-96A0-D0F1A6B4E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447800"/>
            <a:ext cx="2819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425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rPr>
              <a:t>01. 대분류 선택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465FF7-3869-47BB-A0B7-C4D9F754B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771650"/>
            <a:ext cx="3048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3AE870-DCD0-459E-BD40-A1DCEE3FE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876425"/>
            <a:ext cx="27813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왼쪽 대분류를 누르면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오른쪽 세부분류만 좁혀집니다.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왼쪽 전체 분포와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분류 차트의 분모는 유지됩니다.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9A070B-A75A-43CB-92A4-8B0A2B843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76575"/>
            <a:ext cx="30480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F9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8FA822-05D4-4CC1-B5F6-B3BDD55C6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14675"/>
            <a:ext cx="2819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425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rPr>
              <a:t>02. 세부분류 선택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819982-1D4D-4102-955D-4DAB1BE08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38525"/>
            <a:ext cx="3048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5CA41A-15F3-4F36-893B-8222A9BD5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543300"/>
            <a:ext cx="27813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오른쪽 세부분류를 누르면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해당 고객 원문이 열립니다.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대분류의 원문은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행 메뉴에서 열 수 있습니다.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A87F0B-F4A7-41B5-B529-E8C7B6F64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743450"/>
            <a:ext cx="30480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F9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664F4C-222A-403B-B9A6-CF297842E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781550"/>
            <a:ext cx="2819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425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rPr>
              <a:t>03. 선택 범위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1999E7-92C6-420E-B55D-B49430958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105400"/>
            <a:ext cx="3048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9008B1-E66B-4D73-8090-3BC662E94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210175"/>
            <a:ext cx="27813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조건 표시와 선택한 행을 확인합니다.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같은 대분류를 다시 누르거나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조건의 ×·「조건 전체 해제」로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탐색 범위를 되돌립니다.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b7a1013eea4b3d"/>
          <a:stretch xmlns:a="http://schemas.openxmlformats.org/drawingml/2006/main"/>
        </p:blipFill>
        <p:spPr>
          <a:xfrm xmlns:a="http://schemas.openxmlformats.org/drawingml/2006/main">
            <a:off x="342900" y="2247311"/>
            <a:ext cx="5905500" cy="3220628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84D8D5-AE5A-4148-A4B5-12868E24E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247311"/>
            <a:ext cx="5905500" cy="32206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90DE31-0A81-4794-B015-23019ECF5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605" y="3209238"/>
            <a:ext cx="2508315" cy="4079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4A3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DF6DD4-139C-4B6F-9BCB-6EB3C6850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830" y="3085413"/>
            <a:ext cx="2762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200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rPr>
              <a:t>01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8E686C-5CF0-463C-9D10-327B1E662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3060" y="3215326"/>
            <a:ext cx="2715312" cy="4079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4A39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932671-F65D-4BAD-93BE-5F6440017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8285" y="3091501"/>
            <a:ext cx="2762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200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rPr>
              <a:t>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D78290-9731-4C06-B31A-FCFEF8BAC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781" y="2308192"/>
            <a:ext cx="1576829" cy="2922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4A39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515DF7-024C-419D-B83F-1843B98F2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06" y="2184367"/>
            <a:ext cx="2762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200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2462900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22FA1A-F87E-40D7-91EF-F3CC0C8A1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906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BECBFE-7C88-4D71-8532-73E3C28BB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6192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2175" b="1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3. 분류 결과 페이지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CF928A-79B4-455A-9094-625C52EF0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57250"/>
            <a:ext cx="922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725" b="1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고객 원문 조회와 표 필터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BA63B9-CD0A-4CC4-8EFA-017DDBE89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4367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981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900" b="0">
                <a:solidFill>
                  <a:srgbClr val="667981"/>
                </a:solidFill>
                <a:latin typeface="NanumBarunGothicOTF"/>
                <a:ea typeface="NanumBarunGothicOTF"/>
                <a:cs typeface="NanumBarunGothicOTF"/>
              </a:rPr>
              <a:t>VOC Analyzer  /  사용 매뉴얼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95573C-8A91-417B-8540-F792A9EED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54367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981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900" b="0">
                <a:solidFill>
                  <a:srgbClr val="667981"/>
                </a:solidFill>
                <a:latin typeface="NanumBarunGothicOTF"/>
                <a:ea typeface="NanumBarunGothicOTF"/>
                <a:cs typeface="NanumBarunGothicOTF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68DB3D-9468-4DC7-9E5E-EEACFA4E3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409700"/>
            <a:ext cx="30480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F9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01A074-A63E-45BD-BBBF-C5BFE1E16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447800"/>
            <a:ext cx="2819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425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rPr>
              <a:t>01. 원문과 분류 확인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AB69AF-5FB4-4280-BB2A-FE911E8EB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771650"/>
            <a:ext cx="3048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3A22B8-B2A9-4320-822C-9A39FEB38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876425"/>
            <a:ext cx="27813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응답 내용과 분류·감성을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함께 읽습니다. 상단의 응답 수와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전체 대비 비율로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조회 범위를 확인합니다.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4FD09C-7D82-42E6-AF42-5B6200B3B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76575"/>
            <a:ext cx="30480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F9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111E6D-3F5B-440C-BE1D-7BB970F1F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14675"/>
            <a:ext cx="2819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425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rPr>
              <a:t>02. 열별 조건 적용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F98FFE-D840-4CD3-AB0A-64FB9BEC1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38525"/>
            <a:ext cx="3048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1D79A4-925B-489F-9CD1-6A68C7A12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543300"/>
            <a:ext cx="27813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원문·분류·감성·응답 상태의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열 메뉴에서 조건을 고릅니다.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원문 메뉴에서는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포함된 문구도 검색할 수 있습니다.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CC1ACD-BB4C-4283-B8B3-A1361663C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743450"/>
            <a:ext cx="30480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F9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2A5115-4294-4014-B96F-73DBC5509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781550"/>
            <a:ext cx="2819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425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rPr>
              <a:t>03. 표 범위 복원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973F56-5D83-471A-A420-71122F5E1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105400"/>
            <a:ext cx="3048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634F3C-B3DE-47FE-9B85-BD6B54A3E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210175"/>
            <a:ext cx="27813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「전체 보기」로 표의 검색과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필터를 해제합니다.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상위 탐색 조건은 유지됩니다.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×를 누르면 팝업이 닫힙니다.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be3ea8b8ca412c"/>
          <a:stretch xmlns:a="http://schemas.openxmlformats.org/drawingml/2006/main"/>
        </p:blipFill>
        <p:spPr>
          <a:xfrm xmlns:a="http://schemas.openxmlformats.org/drawingml/2006/main">
            <a:off x="342900" y="2335189"/>
            <a:ext cx="5905500" cy="3044872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52EBA5-FD4D-4473-B08F-3F49DF89D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335189"/>
            <a:ext cx="5905500" cy="304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39665B-9073-4FE9-957E-40624B7F2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34" y="2698828"/>
            <a:ext cx="3103054" cy="4024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4A3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588991-810E-40BB-9495-13AAE2382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59" y="2575003"/>
            <a:ext cx="2762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200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rPr>
              <a:t>01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92FB8D-129D-4CC1-9F7C-2F3460D37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628" y="3130347"/>
            <a:ext cx="5711559" cy="2278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4A39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D64988-E656-4F90-84C8-53D8B9138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53" y="3006522"/>
            <a:ext cx="2762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200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rPr>
              <a:t>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B7C3FC-572D-419D-83D7-907E67460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4755" y="2684283"/>
            <a:ext cx="1105463" cy="2084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4A39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6F03EC-CDC9-4A7A-96F0-CAAA1C4F8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9980" y="2560458"/>
            <a:ext cx="2762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200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8786355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4875DC-FE1A-4F42-9EED-0072E28C8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906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3B6885-A273-4E4A-BCE5-E518A5F1B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6192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2175" b="1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3. 분류 결과 페이지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A79C2B-B6BF-43C3-8D0F-155BBA355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57250"/>
            <a:ext cx="922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725" b="1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분류·감성 직접 수정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276890-9ADB-4915-975D-D0179FE96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4367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981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900" b="0">
                <a:solidFill>
                  <a:srgbClr val="667981"/>
                </a:solidFill>
                <a:latin typeface="NanumBarunGothicOTF"/>
                <a:ea typeface="NanumBarunGothicOTF"/>
                <a:cs typeface="NanumBarunGothicOTF"/>
              </a:rPr>
              <a:t>VOC Analyzer  /  사용 매뉴얼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C94235-8904-4952-B784-F6D14F455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54367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981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900" b="0">
                <a:solidFill>
                  <a:srgbClr val="667981"/>
                </a:solidFill>
                <a:latin typeface="NanumBarunGothicOTF"/>
                <a:ea typeface="NanumBarunGothicOTF"/>
                <a:cs typeface="NanumBarunGothicOTF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E13C55-6489-4F62-B545-588A9B059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409700"/>
            <a:ext cx="30480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F9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F77B99-51CB-4CA4-B38F-40A524321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447800"/>
            <a:ext cx="2819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425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rPr>
              <a:t>01. 수정할 셀 열기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EFC418-99C5-4BA5-BEED-7E38C9D80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771650"/>
            <a:ext cx="3048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EA8A0A-AE61-4D11-B6EA-706DD418E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876425"/>
            <a:ext cx="27813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원문 표에서 분류 또는 감성 셀을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더블클릭합니다.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여러 의견이 있으면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각 의견의 분류와 근거를 확인합니다.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BD177C-28EE-40E1-9FF6-563453960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76575"/>
            <a:ext cx="30480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F9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FC7F3E-8AF9-46CB-BEC9-FC3A2D623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14675"/>
            <a:ext cx="2819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425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rPr>
              <a:t>02. 의견별 값 선택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E86AB3-9E8B-4A53-9051-06CB1FACF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38525"/>
            <a:ext cx="3048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778AEE-36AE-4FB3-9AED-886090B67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543300"/>
            <a:ext cx="27813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드롭다운에서 값을 고릅니다.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감성은 긍정·부정·중립·판단 불가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중에서 선택합니다.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각 의견의 근거에 맞춰 판단합니다.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952632-FC3C-4F46-B013-64F6BEB95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743450"/>
            <a:ext cx="30480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F9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E60BF3-EB04-4072-B0E4-BC7199553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781550"/>
            <a:ext cx="2819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425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rPr>
              <a:t>03. 저장 또는 취소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BAA880-9598-4521-8E3D-EE92699FF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105400"/>
            <a:ext cx="3048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0569CF-E28E-459C-B3F5-D2C67566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210175"/>
            <a:ext cx="27813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「저장」으로 수정 결과를 반영합니다.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「취소」·Esc·바깥 클릭은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변경을 버립니다.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최초 값과 수정 이력은 남습니다.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3ec871282848e6"/>
          <a:stretch xmlns:a="http://schemas.openxmlformats.org/drawingml/2006/main"/>
        </p:blipFill>
        <p:spPr>
          <a:xfrm xmlns:a="http://schemas.openxmlformats.org/drawingml/2006/main">
            <a:off x="342900" y="1791159"/>
            <a:ext cx="5905500" cy="4132932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EDBE6D-08C6-4E59-BE21-F26DDADFE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791159"/>
            <a:ext cx="5905500" cy="41329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14AAFE-6C66-4222-B39B-E47AB7043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327" y="2287111"/>
            <a:ext cx="1166405" cy="7714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4A3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A10A40-0665-4045-8DC6-1C8BEB822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7552" y="2163286"/>
            <a:ext cx="2762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200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rPr>
              <a:t>01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53C6F3-BDE8-443F-ADBD-2F40C9DC8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8339" y="3076960"/>
            <a:ext cx="3820666" cy="19011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4A39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B09CEE-F2B0-44D2-B3F9-CA39F0091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3564" y="2953135"/>
            <a:ext cx="2762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200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rPr>
              <a:t>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D0E8B7-F17A-494E-84C6-9E3A552B4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3444" y="5088320"/>
            <a:ext cx="3747191" cy="6337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4A39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35DE7A-48E6-4466-AD43-4B90283C9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8669" y="4964495"/>
            <a:ext cx="2762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200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9379544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F7941D-E656-4541-A7F3-0BDA13E9E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906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B75C7C-DC9A-476B-BFEF-EC055AAE1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6192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2175" b="1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3. 분류 결과 페이지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918738-022C-40BC-8268-DB2485E24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57250"/>
            <a:ext cx="922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725" b="1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분류 묶어보기와 저장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DBEB0C-CED2-40CE-90A0-72A7B439C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4367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981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900" b="0">
                <a:solidFill>
                  <a:srgbClr val="667981"/>
                </a:solidFill>
                <a:latin typeface="NanumBarunGothicOTF"/>
                <a:ea typeface="NanumBarunGothicOTF"/>
                <a:cs typeface="NanumBarunGothicOTF"/>
              </a:rPr>
              <a:t>VOC Analyzer  /  사용 매뉴얼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B6FF72-2D00-4BFE-9BA4-45B58E7E2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54367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981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900" b="0">
                <a:solidFill>
                  <a:srgbClr val="667981"/>
                </a:solidFill>
                <a:latin typeface="NanumBarunGothicOTF"/>
                <a:ea typeface="NanumBarunGothicOTF"/>
                <a:cs typeface="NanumBarunGothicOTF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F0769D-C2BE-4BFD-90A1-E39F658EC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409700"/>
            <a:ext cx="30480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F9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6E3DF1-1329-46DF-AB36-73FF3BD8C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447800"/>
            <a:ext cx="2819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425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rPr>
              <a:t>01. 그래프에서 묶어보기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4B2CF7-08A1-486E-80AE-F53BDBC8A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771650"/>
            <a:ext cx="3048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AAA786-3202-4503-BA01-C392E4F26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876425"/>
            <a:ext cx="27813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분류 행의 손잡이를 다른 행으로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끌거나 행 메뉴에서 합칩니다.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같은 응답은 중복 없이 셉니다.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2D4350-4184-4C65-8F99-88D3F5559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76575"/>
            <a:ext cx="30480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F9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6DA5E4-D312-4E52-BAA3-5C3F5D194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14675"/>
            <a:ext cx="2819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425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rPr>
              <a:t>02. 지금 분류 저장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1CA792-0977-42CA-A6AA-B694E4DDB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38525"/>
            <a:ext cx="3048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3A8863-0E61-4ED7-8D09-23B38CAF2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543300"/>
            <a:ext cx="27813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원하는 분류를 선택한 뒤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「지금 분류 저장」을 엽니다.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저장할 분류와 이름을 확인하고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「저장」을 누릅니다.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1352D9-BB54-4844-B693-C4A31A478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743450"/>
            <a:ext cx="30480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F9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EE75B3-061D-4226-9E77-E882CFDD2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781550"/>
            <a:ext cx="2819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425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rPr>
              <a:t>참고 저장 범위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19BFE6-01C7-40C8-98F9-5E6891398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105400"/>
            <a:ext cx="3048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800568-38C3-4070-9943-2047D9C74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210175"/>
            <a:ext cx="27813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선택한 분류 조합을 저장합니다.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현재 감성 필터는 저장하지 않습니다.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저장한 분류는 같은 결과에서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다시 불러올 수 있습니다.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70faf25ed44150"/>
          <a:stretch xmlns:a="http://schemas.openxmlformats.org/drawingml/2006/main"/>
        </p:blipFill>
        <p:spPr>
          <a:xfrm xmlns:a="http://schemas.openxmlformats.org/drawingml/2006/main">
            <a:off x="1179943" y="1409700"/>
            <a:ext cx="4231413" cy="489585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AAD547-E883-4C38-A09E-669C1CDA2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943" y="1409700"/>
            <a:ext cx="4231413" cy="489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B70BEF-708A-47FB-90F4-51EFD5A03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508" y="5352608"/>
            <a:ext cx="236050" cy="39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4A3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7D4DD6-6A2C-4B9F-AEF2-F8D2617B8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733" y="5228783"/>
            <a:ext cx="2762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200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rPr>
              <a:t>01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3D7182-536D-4BD1-AF37-615EC681C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7204" y="1479641"/>
            <a:ext cx="1302646" cy="39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4A39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58D374-7B58-473D-8A45-68F2BB59A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2429" y="1355816"/>
            <a:ext cx="2762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200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055273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B723AD-4290-408C-940F-705662E9F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906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452155-8F5C-485A-B96F-10ACB839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6192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2175" b="1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3. 분류 결과 페이지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308EB1-B6B6-4247-AB1C-1FBC4A60B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57250"/>
            <a:ext cx="922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725" b="1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결과 다운로드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603C70-113E-474C-A2DA-FC3CC0FD5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4367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981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900" b="0">
                <a:solidFill>
                  <a:srgbClr val="667981"/>
                </a:solidFill>
                <a:latin typeface="NanumBarunGothicOTF"/>
                <a:ea typeface="NanumBarunGothicOTF"/>
                <a:cs typeface="NanumBarunGothicOTF"/>
              </a:rPr>
              <a:t>VOC Analyzer  /  사용 매뉴얼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9BBB8F-DB38-4E3A-AF95-EACFA0B5E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54367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981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900" b="0">
                <a:solidFill>
                  <a:srgbClr val="667981"/>
                </a:solidFill>
                <a:latin typeface="NanumBarunGothicOTF"/>
                <a:ea typeface="NanumBarunGothicOTF"/>
                <a:cs typeface="NanumBarunGothicOTF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6DE97E-8244-4E4C-9408-25C0499EB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409700"/>
            <a:ext cx="30480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F9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BE6F1A-3A73-41F6-80BC-6354BDD07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447800"/>
            <a:ext cx="2819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425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rPr>
              <a:t>01. VOC별 분류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C56FB6-C8CD-432B-AC37-22615A381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771650"/>
            <a:ext cx="3048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350F76-B398-450E-AAB2-FE3058F8B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876425"/>
            <a:ext cx="27813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원문별 분류와 감성을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Excel로 내려받습니다.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복수 분류가 있는 응답은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같은 VOC ID의 여러 행으로 나옵니다.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7969F0-C76D-4C36-8CC6-E41C8957C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76575"/>
            <a:ext cx="30480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F9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3F3011-BC20-4DE3-B6B8-889B860D1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14675"/>
            <a:ext cx="2819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425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rPr>
              <a:t>02. 분류 통계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3A4460-08C4-41D9-BD28-6BBA60070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38525"/>
            <a:ext cx="3048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9D6512-1DFB-4BBE-AB54-FBDAA0538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543300"/>
            <a:ext cx="27813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대분류·세부분류 시트에서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건수·비율·감성 구성을 봅니다.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그래프에서 합친 묶음도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통계에 반영됩니다.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D79A13-B046-443C-85E2-C73ECD1AA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743450"/>
            <a:ext cx="30480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F9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64B14C-ED0B-4FD3-B7F1-E8F41A3AE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781550"/>
            <a:ext cx="2819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425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rPr>
              <a:t>참고 다운로드 범위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0A950B-E669-425A-8A76-A56ADC282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105400"/>
            <a:ext cx="3048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33B76F-9CC0-4B7E-9EF8-25488934B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210175"/>
            <a:ext cx="27813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감성·분류 필터와 표시 개수에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관계없이 전체 자료를 받습니다.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통계의 감성 구분은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상단 언급률과 다릅니다.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cf558bf33d422b"/>
          <a:stretch xmlns:a="http://schemas.openxmlformats.org/drawingml/2006/main"/>
        </p:blipFill>
        <p:spPr>
          <a:xfrm xmlns:a="http://schemas.openxmlformats.org/drawingml/2006/main">
            <a:off x="723900" y="1447800"/>
            <a:ext cx="5143500" cy="3857625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B32351-E254-41A3-95C0-2DCCDDC8C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47800"/>
            <a:ext cx="514350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AA5797-94CA-459E-B5DB-EF30BB022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6491" y="3055144"/>
            <a:ext cx="2236304" cy="7407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4A3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9BCEA9-51DA-457A-985D-5ACA31FDD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716" y="2931319"/>
            <a:ext cx="2762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200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rPr>
              <a:t>01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BA3B0E-4A82-4F55-A306-14CB434C7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6491" y="3879781"/>
            <a:ext cx="2096535" cy="7267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4A39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1B7BC3-45BD-43E4-ACC7-606A2A148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716" y="3755956"/>
            <a:ext cx="2762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200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rPr>
              <a:t>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C83B70-C7B1-4BA0-B8FA-35CF05855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10225"/>
            <a:ext cx="5648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7981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275" b="0">
                <a:solidFill>
                  <a:srgbClr val="667981"/>
                </a:solidFill>
                <a:latin typeface="NanumBarunGothicOTF"/>
                <a:ea typeface="NanumBarunGothicOTF"/>
                <a:cs typeface="NanumBarunGothicOTF"/>
              </a:rPr>
              <a:t>통계 파일의 감성은 긍정·부정·혼합·기타 범주로 나눕니다.</a:t>
            </a:r>
          </a:p>
        </p:txBody>
      </p:sp>
    </p:spTree>
    <p:extLst>
      <p:ext uri="{BB962C8B-B14F-4D97-AF65-F5344CB8AC3E}">
        <p14:creationId xmlns:p14="http://schemas.microsoft.com/office/powerpoint/2010/main" val="72724807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D79278-CA14-4115-A6A0-2CC8015DA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906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012022-CE42-4282-B909-599DE0E6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6192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2175" b="1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3. 분류 결과 페이지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A06973-3872-4B36-AA24-CCC0F9ED8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57250"/>
            <a:ext cx="922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725" b="1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저장된 자료와 분석 다시 열기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C6A749-D979-405F-B93E-6D575826D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4367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981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900" b="0">
                <a:solidFill>
                  <a:srgbClr val="667981"/>
                </a:solidFill>
                <a:latin typeface="NanumBarunGothicOTF"/>
                <a:ea typeface="NanumBarunGothicOTF"/>
                <a:cs typeface="NanumBarunGothicOTF"/>
              </a:rPr>
              <a:t>VOC Analyzer  /  사용 매뉴얼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0DB5D4-B6C4-40EE-B475-046626804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54367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981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900" b="0">
                <a:solidFill>
                  <a:srgbClr val="667981"/>
                </a:solidFill>
                <a:latin typeface="NanumBarunGothicOTF"/>
                <a:ea typeface="NanumBarunGothicOTF"/>
                <a:cs typeface="NanumBarunGothicOTF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BE5230-C228-48A1-B29E-68F0584C5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409700"/>
            <a:ext cx="30480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F9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D45997-CF61-4C9E-8818-C3427A701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447800"/>
            <a:ext cx="2819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425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rPr>
              <a:t>01. 입력 자료 선택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EEC7BF-0A76-461B-8A27-60361B0CD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771650"/>
            <a:ext cx="3048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EC82A7-F07A-4F36-8C6F-CFA558842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876425"/>
            <a:ext cx="27813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기준표·결과 제목 옆의 목록에서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분석할 자료를 선택합니다.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입력 화면에는 이 목록이 없습니다.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D031DF-D14A-4DDD-A8E4-EE3EC6395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76575"/>
            <a:ext cx="30480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F9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45FE5A-314A-426F-8D42-F2D4DC070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14675"/>
            <a:ext cx="2819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425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rPr>
              <a:t>02. 이름과 삭제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36119F-9D64-4660-A348-B3244932B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38525"/>
            <a:ext cx="3048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AD28CD-73F3-403F-8CC8-5D67ED16D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543300"/>
            <a:ext cx="27813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연필로 자료 이름을 바꿉니다.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×를 누르면 자료와 연결된 분석이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즉시 삭제되며 복구할 수 없습니다.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삭제 전에 자료 이름을 확인합니다.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4B29B6-0CC3-4E2F-915D-BA6E9F7DA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743450"/>
            <a:ext cx="30480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F9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A07A05-AD02-4625-A781-AEA0CFB95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781550"/>
            <a:ext cx="2819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425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rPr>
              <a:t>03. 다른 실행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11294F-3CDD-4DE6-8110-542878D0E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105400"/>
            <a:ext cx="3048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F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C3F9EB-950F-49FF-A9E9-7D4CC2FF9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210175"/>
            <a:ext cx="27813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「분석 이력」에서 저장된 실행을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선택합니다. 입력 자료와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350" b="0">
                <a:solidFill>
                  <a:srgbClr val="213B47"/>
                </a:solidFill>
                <a:latin typeface="NanumBarunGothicOTF"/>
                <a:ea typeface="NanumBarunGothicOTF"/>
                <a:cs typeface="NanumBarunGothicOTF"/>
              </a:rPr>
              <a:t>기준표 버전을 함께 확인합니다.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699fdf59a64495"/>
          <a:stretch xmlns:a="http://schemas.openxmlformats.org/drawingml/2006/main"/>
        </p:blipFill>
        <p:spPr>
          <a:xfrm xmlns:a="http://schemas.openxmlformats.org/drawingml/2006/main">
            <a:off x="342900" y="2000741"/>
            <a:ext cx="5905500" cy="3713768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6894DF-FEF3-41A0-AE05-CA065F982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000741"/>
            <a:ext cx="5905500" cy="37137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D606B5-916C-4524-9A9D-E04AC7A0F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006" y="2092063"/>
            <a:ext cx="1412449" cy="261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4A3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F54F7F-E657-4981-96E0-09AFCAEF4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231" y="1968238"/>
            <a:ext cx="2762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200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rPr>
              <a:t>01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425ABA-BDEA-4A60-B952-DE46738CC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6258" y="2432999"/>
            <a:ext cx="462699" cy="4992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4A39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ED6795-DCB8-4821-907E-F7AB7C34E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1483" y="2309174"/>
            <a:ext cx="2762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200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rPr>
              <a:t>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9C10F8-1429-440D-89EB-3CFEE4646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4352" y="2402559"/>
            <a:ext cx="639255" cy="2800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4A39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F5F877-2991-4A24-8FB9-FCEDAF5D5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9577" y="2278734"/>
            <a:ext cx="2762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defRPr>
            </a:pPr>
            <a:r>
              <a:rPr sz="1200" b="1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271068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2026-10-07T04:41:33.8770000Z</dcterms:created>
  <dcterms:modified xsi:type="dcterms:W3CDTF">2026-10-07T04:41:33.8770000Z</dcterms:modified>
</coreProperties>
</file>